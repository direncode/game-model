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2" d="100"/>
          <a:sy n="72" d="100"/>
        </p:scale>
        <p:origin x="573"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2760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dart.deloitte.com/USDART/home/publications/deloitte/on-the-radar/environmental-obligations-aro"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hyperlink" Target="https://docs.aep.com/docs/investors/filings/docs/AEP_10K_2023.pdf" TargetMode="External"/><Relationship Id="rId4" Type="http://schemas.openxmlformats.org/officeDocument/2006/relationships/hyperlink" Target="https://www.ey.com/content/dam/ey-unified-site/ey-com/en-us/technical/accountinglink/documents/ey-secru28204-251us-09-11-2025.pdf"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0" y="1554480"/>
            <a:ext cx="9144000" cy="914400"/>
          </a:xfrm>
          <a:prstGeom prst="rect">
            <a:avLst/>
          </a:prstGeom>
          <a:noFill/>
          <a:ln/>
        </p:spPr>
        <p:txBody>
          <a:bodyPr wrap="square" lIns="0" tIns="0" rIns="0" bIns="0" rtlCol="0" anchor="ctr"/>
          <a:lstStyle/>
          <a:p>
            <a:pPr marL="0" indent="0" algn="ctr">
              <a:buNone/>
            </a:pPr>
            <a:r>
              <a:rPr lang="en-US" sz="5600" b="1" kern="0" spc="800" dirty="0">
                <a:solidFill>
                  <a:srgbClr val="FFFFFF"/>
                </a:solidFill>
                <a:latin typeface="Georgia" pitchFamily="34" charset="0"/>
                <a:ea typeface="Georgia" pitchFamily="34" charset="-122"/>
                <a:cs typeface="Georgia" pitchFamily="34" charset="-120"/>
              </a:rPr>
              <a:t>LATENT OCEAN</a:t>
            </a:r>
            <a:endParaRPr lang="en-US" sz="5600" dirty="0"/>
          </a:p>
        </p:txBody>
      </p:sp>
      <p:sp>
        <p:nvSpPr>
          <p:cNvPr id="3" name="Text 1"/>
          <p:cNvSpPr/>
          <p:nvPr/>
        </p:nvSpPr>
        <p:spPr>
          <a:xfrm>
            <a:off x="0" y="2606040"/>
            <a:ext cx="9144000" cy="457200"/>
          </a:xfrm>
          <a:prstGeom prst="rect">
            <a:avLst/>
          </a:prstGeom>
          <a:noFill/>
          <a:ln/>
        </p:spPr>
        <p:txBody>
          <a:bodyPr wrap="square" lIns="0" tIns="0" rIns="0" bIns="0" rtlCol="0" anchor="ctr"/>
          <a:lstStyle/>
          <a:p>
            <a:pPr marL="0" indent="0" algn="ctr">
              <a:buNone/>
            </a:pPr>
            <a:r>
              <a:rPr lang="en-US" sz="2400" i="1" dirty="0">
                <a:solidFill>
                  <a:srgbClr val="B8924A"/>
                </a:solidFill>
                <a:latin typeface="Georgia" pitchFamily="34" charset="0"/>
                <a:ea typeface="Georgia" pitchFamily="34" charset="-122"/>
                <a:cs typeface="Georgia" pitchFamily="34" charset="-120"/>
              </a:rPr>
              <a:t>Data that organizes itself.</a:t>
            </a:r>
            <a:endParaRPr lang="en-US" sz="2400" dirty="0"/>
          </a:p>
        </p:txBody>
      </p:sp>
      <p:sp>
        <p:nvSpPr>
          <p:cNvPr id="4" name="Text 2"/>
          <p:cNvSpPr/>
          <p:nvPr/>
        </p:nvSpPr>
        <p:spPr>
          <a:xfrm>
            <a:off x="0" y="3749040"/>
            <a:ext cx="9144000" cy="274320"/>
          </a:xfrm>
          <a:prstGeom prst="rect">
            <a:avLst/>
          </a:prstGeom>
          <a:noFill/>
          <a:ln/>
        </p:spPr>
        <p:txBody>
          <a:bodyPr wrap="square" lIns="0" tIns="0" rIns="0" bIns="0" rtlCol="0" anchor="ctr"/>
          <a:lstStyle/>
          <a:p>
            <a:pPr marL="0" indent="0" algn="ctr">
              <a:buNone/>
            </a:pPr>
            <a:r>
              <a:rPr lang="en-US" sz="1200" kern="0" spc="300" dirty="0">
                <a:solidFill>
                  <a:srgbClr val="D1D5DB"/>
                </a:solidFill>
                <a:latin typeface="Calibri" pitchFamily="34" charset="0"/>
                <a:ea typeface="Calibri" pitchFamily="34" charset="-122"/>
                <a:cs typeface="Calibri" pitchFamily="34" charset="-120"/>
              </a:rPr>
              <a:t>Diren Kumaratilleke   ·   direnavk@outlook.com</a:t>
            </a:r>
            <a:endParaRPr lang="en-US" sz="1200" dirty="0"/>
          </a:p>
        </p:txBody>
      </p:sp>
      <p:sp>
        <p:nvSpPr>
          <p:cNvPr id="5" name="Text 3"/>
          <p:cNvSpPr/>
          <p:nvPr/>
        </p:nvSpPr>
        <p:spPr>
          <a:xfrm>
            <a:off x="0" y="4114800"/>
            <a:ext cx="9144000" cy="274320"/>
          </a:xfrm>
          <a:prstGeom prst="rect">
            <a:avLst/>
          </a:prstGeom>
          <a:noFill/>
          <a:ln/>
        </p:spPr>
        <p:txBody>
          <a:bodyPr wrap="square" lIns="0" tIns="0" rIns="0" bIns="0" rtlCol="0" anchor="ctr"/>
          <a:lstStyle/>
          <a:p>
            <a:pPr marL="0" indent="0" algn="ctr">
              <a:buNone/>
            </a:pPr>
            <a:r>
              <a:rPr lang="en-US" sz="1200" b="1" kern="0" spc="300" dirty="0">
                <a:solidFill>
                  <a:srgbClr val="B8924A"/>
                </a:solidFill>
                <a:latin typeface="Calibri" pitchFamily="34" charset="0"/>
                <a:ea typeface="Calibri" pitchFamily="34" charset="-122"/>
                <a:cs typeface="Calibri" pitchFamily="34" charset="-120"/>
              </a:rPr>
              <a:t>www.latentocean.com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CF8"/>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400" dirty="0">
                <a:solidFill>
                  <a:srgbClr val="B8924A"/>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1280160"/>
            <a:ext cx="8046720" cy="2743200"/>
          </a:xfrm>
          <a:prstGeom prst="rect">
            <a:avLst/>
          </a:prstGeom>
          <a:noFill/>
          <a:ln/>
        </p:spPr>
        <p:txBody>
          <a:bodyPr wrap="square" lIns="0" tIns="0" rIns="0" bIns="0" rtlCol="0" anchor="t"/>
          <a:lstStyle/>
          <a:p>
            <a:pPr marL="0" indent="0">
              <a:buNone/>
            </a:pPr>
            <a:r>
              <a:rPr lang="en-US" sz="2600" dirty="0">
                <a:solidFill>
                  <a:srgbClr val="1A1A1A"/>
                </a:solidFill>
                <a:latin typeface="Georgia" pitchFamily="34" charset="0"/>
                <a:ea typeface="Georgia" pitchFamily="34" charset="-122"/>
                <a:cs typeface="Georgia" pitchFamily="34" charset="-120"/>
              </a:rPr>
              <a:t>Today's data systems chase what's common and miss what matters. The most valuable patterns hide in the rare events, the unusual signals, the connections nobody is looking for.</a:t>
            </a:r>
            <a:endParaRPr lang="en-US" sz="2600" dirty="0"/>
          </a:p>
        </p:txBody>
      </p:sp>
      <p:sp>
        <p:nvSpPr>
          <p:cNvPr id="4" name="Text 2"/>
          <p:cNvSpPr/>
          <p:nvPr/>
        </p:nvSpPr>
        <p:spPr>
          <a:xfrm>
            <a:off x="548640" y="4800600"/>
            <a:ext cx="3657600" cy="228600"/>
          </a:xfrm>
          <a:prstGeom prst="rect">
            <a:avLst/>
          </a:prstGeom>
          <a:noFill/>
          <a:ln/>
        </p:spPr>
        <p:txBody>
          <a:bodyPr wrap="square" lIns="0" tIns="0" rIns="0" bIns="0" rtlCol="0" anchor="ctr"/>
          <a:lstStyle/>
          <a:p>
            <a:pPr marL="0" indent="0">
              <a:buNone/>
            </a:pPr>
            <a:r>
              <a:rPr lang="en-US" sz="900" kern="0" spc="200" dirty="0">
                <a:solidFill>
                  <a:srgbClr val="4B5563"/>
                </a:solidFill>
                <a:latin typeface="Calibri" pitchFamily="34" charset="0"/>
                <a:ea typeface="Calibri" pitchFamily="34" charset="-122"/>
                <a:cs typeface="Calibri" pitchFamily="34" charset="-120"/>
              </a:rPr>
              <a:t>LATENT OCEAN</a:t>
            </a:r>
            <a:endParaRPr lang="en-US" sz="900" dirty="0"/>
          </a:p>
        </p:txBody>
      </p:sp>
      <p:sp>
        <p:nvSpPr>
          <p:cNvPr id="5" name="Text 3"/>
          <p:cNvSpPr/>
          <p:nvPr/>
        </p:nvSpPr>
        <p:spPr>
          <a:xfrm>
            <a:off x="7680960" y="4800600"/>
            <a:ext cx="914400" cy="228600"/>
          </a:xfrm>
          <a:prstGeom prst="rect">
            <a:avLst/>
          </a:prstGeom>
          <a:noFill/>
          <a:ln/>
        </p:spPr>
        <p:txBody>
          <a:bodyPr wrap="square" lIns="0" tIns="0" rIns="0" bIns="0" rtlCol="0" anchor="ctr"/>
          <a:lstStyle/>
          <a:p>
            <a:pPr marL="0" indent="0" algn="r">
              <a:buNone/>
            </a:pPr>
            <a:r>
              <a:rPr lang="en-US" sz="900" dirty="0">
                <a:solidFill>
                  <a:srgbClr val="4B5563"/>
                </a:solidFill>
                <a:latin typeface="Calibri" pitchFamily="34" charset="0"/>
                <a:ea typeface="Calibri" pitchFamily="34" charset="-122"/>
                <a:cs typeface="Calibr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CF8"/>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400" dirty="0">
                <a:solidFill>
                  <a:srgbClr val="B8924A"/>
                </a:solidFill>
                <a:latin typeface="Calibri" pitchFamily="34" charset="0"/>
                <a:ea typeface="Calibri" pitchFamily="34" charset="-122"/>
                <a:cs typeface="Calibri" pitchFamily="34" charset="-120"/>
              </a:rPr>
              <a:t>WHY NOW</a:t>
            </a:r>
            <a:endParaRPr lang="en-US" sz="1200" dirty="0"/>
          </a:p>
        </p:txBody>
      </p:sp>
      <p:sp>
        <p:nvSpPr>
          <p:cNvPr id="3" name="Text 1"/>
          <p:cNvSpPr/>
          <p:nvPr/>
        </p:nvSpPr>
        <p:spPr>
          <a:xfrm>
            <a:off x="548640" y="868680"/>
            <a:ext cx="8046720" cy="1691640"/>
          </a:xfrm>
          <a:prstGeom prst="rect">
            <a:avLst/>
          </a:prstGeom>
          <a:noFill/>
          <a:ln/>
        </p:spPr>
        <p:txBody>
          <a:bodyPr wrap="square" lIns="0" tIns="0" rIns="0" bIns="0" rtlCol="0" anchor="ctr"/>
          <a:lstStyle/>
          <a:p>
            <a:pPr marL="0" indent="0" algn="l">
              <a:buNone/>
            </a:pPr>
            <a:r>
              <a:rPr lang="en-US" sz="2200" dirty="0">
                <a:solidFill>
                  <a:srgbClr val="1A1A1A"/>
                </a:solidFill>
                <a:latin typeface="Georgia" pitchFamily="34" charset="0"/>
                <a:ea typeface="Georgia" pitchFamily="34" charset="-122"/>
                <a:cs typeface="Georgia" pitchFamily="34" charset="-120"/>
              </a:rPr>
              <a:t>Data is multiplying faster than anyone can understand it.</a:t>
            </a:r>
            <a:endParaRPr lang="en-US" sz="2200" dirty="0"/>
          </a:p>
          <a:p>
            <a:pPr marL="0" indent="0" algn="l">
              <a:buNone/>
            </a:pPr>
            <a:r>
              <a:rPr lang="en-US" sz="2200" i="1" dirty="0">
                <a:solidFill>
                  <a:srgbClr val="B8924A"/>
                </a:solidFill>
                <a:latin typeface="Georgia" pitchFamily="34" charset="0"/>
                <a:ea typeface="Georgia" pitchFamily="34" charset="-122"/>
                <a:cs typeface="Georgia" pitchFamily="34" charset="-120"/>
              </a:rPr>
              <a:t>The next generation of systems has to organize itself.</a:t>
            </a:r>
            <a:endParaRPr lang="en-US" sz="2200" dirty="0"/>
          </a:p>
        </p:txBody>
      </p:sp>
      <p:sp>
        <p:nvSpPr>
          <p:cNvPr id="4" name="Shape 2"/>
          <p:cNvSpPr/>
          <p:nvPr/>
        </p:nvSpPr>
        <p:spPr>
          <a:xfrm>
            <a:off x="548640" y="2880360"/>
            <a:ext cx="2468880" cy="1691640"/>
          </a:xfrm>
          <a:prstGeom prst="rect">
            <a:avLst/>
          </a:prstGeom>
          <a:solidFill>
            <a:srgbClr val="FFFFFF"/>
          </a:solidFill>
          <a:ln w="6350">
            <a:solidFill>
              <a:srgbClr val="D1D5DB"/>
            </a:solidFill>
            <a:prstDash val="solid"/>
          </a:ln>
        </p:spPr>
        <p:txBody>
          <a:bodyPr/>
          <a:lstStyle/>
          <a:p>
            <a:endParaRPr lang="en-AE"/>
          </a:p>
        </p:txBody>
      </p:sp>
      <p:sp>
        <p:nvSpPr>
          <p:cNvPr id="5" name="Shape 3"/>
          <p:cNvSpPr/>
          <p:nvPr/>
        </p:nvSpPr>
        <p:spPr>
          <a:xfrm>
            <a:off x="548640" y="2880360"/>
            <a:ext cx="54864" cy="1691640"/>
          </a:xfrm>
          <a:prstGeom prst="rect">
            <a:avLst/>
          </a:prstGeom>
          <a:solidFill>
            <a:srgbClr val="B8924A"/>
          </a:solidFill>
          <a:ln/>
        </p:spPr>
        <p:txBody>
          <a:bodyPr/>
          <a:lstStyle/>
          <a:p>
            <a:endParaRPr lang="en-AE"/>
          </a:p>
        </p:txBody>
      </p:sp>
      <p:sp>
        <p:nvSpPr>
          <p:cNvPr id="6" name="Text 4"/>
          <p:cNvSpPr/>
          <p:nvPr/>
        </p:nvSpPr>
        <p:spPr>
          <a:xfrm>
            <a:off x="777240" y="3063240"/>
            <a:ext cx="2103120" cy="320040"/>
          </a:xfrm>
          <a:prstGeom prst="rect">
            <a:avLst/>
          </a:prstGeom>
          <a:noFill/>
          <a:ln/>
        </p:spPr>
        <p:txBody>
          <a:bodyPr wrap="square" lIns="0" tIns="0" rIns="0" bIns="0" rtlCol="0" anchor="ctr"/>
          <a:lstStyle/>
          <a:p>
            <a:pPr marL="0" indent="0">
              <a:buNone/>
            </a:pPr>
            <a:r>
              <a:rPr lang="en-US" sz="1200" b="1" kern="0" spc="300" dirty="0">
                <a:solidFill>
                  <a:srgbClr val="1E3A5F"/>
                </a:solidFill>
                <a:latin typeface="Calibri" pitchFamily="34" charset="0"/>
                <a:ea typeface="Calibri" pitchFamily="34" charset="-122"/>
                <a:cs typeface="Calibri" pitchFamily="34" charset="-120"/>
              </a:rPr>
              <a:t>INGESTION</a:t>
            </a:r>
            <a:endParaRPr lang="en-US" sz="1200" dirty="0"/>
          </a:p>
        </p:txBody>
      </p:sp>
      <p:sp>
        <p:nvSpPr>
          <p:cNvPr id="7" name="Text 5"/>
          <p:cNvSpPr/>
          <p:nvPr/>
        </p:nvSpPr>
        <p:spPr>
          <a:xfrm>
            <a:off x="777240" y="3429000"/>
            <a:ext cx="2103120" cy="100584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Read any kind of data which can be structured or messy, big or small.</a:t>
            </a:r>
            <a:endParaRPr lang="en-US" sz="1200" dirty="0"/>
          </a:p>
        </p:txBody>
      </p:sp>
      <p:sp>
        <p:nvSpPr>
          <p:cNvPr id="8" name="Shape 6"/>
          <p:cNvSpPr/>
          <p:nvPr/>
        </p:nvSpPr>
        <p:spPr>
          <a:xfrm>
            <a:off x="3337560" y="2880360"/>
            <a:ext cx="2468880" cy="1691640"/>
          </a:xfrm>
          <a:prstGeom prst="rect">
            <a:avLst/>
          </a:prstGeom>
          <a:solidFill>
            <a:srgbClr val="FFFFFF"/>
          </a:solidFill>
          <a:ln w="6350">
            <a:solidFill>
              <a:srgbClr val="D1D5DB"/>
            </a:solidFill>
            <a:prstDash val="solid"/>
          </a:ln>
        </p:spPr>
        <p:txBody>
          <a:bodyPr/>
          <a:lstStyle/>
          <a:p>
            <a:endParaRPr lang="en-AE"/>
          </a:p>
        </p:txBody>
      </p:sp>
      <p:sp>
        <p:nvSpPr>
          <p:cNvPr id="9" name="Shape 7"/>
          <p:cNvSpPr/>
          <p:nvPr/>
        </p:nvSpPr>
        <p:spPr>
          <a:xfrm>
            <a:off x="3337560" y="2880360"/>
            <a:ext cx="54864" cy="1691640"/>
          </a:xfrm>
          <a:prstGeom prst="rect">
            <a:avLst/>
          </a:prstGeom>
          <a:solidFill>
            <a:srgbClr val="B8924A"/>
          </a:solidFill>
          <a:ln/>
        </p:spPr>
        <p:txBody>
          <a:bodyPr/>
          <a:lstStyle/>
          <a:p>
            <a:endParaRPr lang="en-AE"/>
          </a:p>
        </p:txBody>
      </p:sp>
      <p:sp>
        <p:nvSpPr>
          <p:cNvPr id="10" name="Text 8"/>
          <p:cNvSpPr/>
          <p:nvPr/>
        </p:nvSpPr>
        <p:spPr>
          <a:xfrm>
            <a:off x="3566160" y="3063240"/>
            <a:ext cx="2103120" cy="320040"/>
          </a:xfrm>
          <a:prstGeom prst="rect">
            <a:avLst/>
          </a:prstGeom>
          <a:noFill/>
          <a:ln/>
        </p:spPr>
        <p:txBody>
          <a:bodyPr wrap="square" lIns="0" tIns="0" rIns="0" bIns="0" rtlCol="0" anchor="ctr"/>
          <a:lstStyle/>
          <a:p>
            <a:pPr marL="0" indent="0">
              <a:buNone/>
            </a:pPr>
            <a:r>
              <a:rPr lang="en-US" sz="1200" b="1" kern="0" spc="300" dirty="0">
                <a:solidFill>
                  <a:srgbClr val="1E3A5F"/>
                </a:solidFill>
                <a:latin typeface="Calibri" pitchFamily="34" charset="0"/>
                <a:ea typeface="Calibri" pitchFamily="34" charset="-122"/>
                <a:cs typeface="Calibri" pitchFamily="34" charset="-120"/>
              </a:rPr>
              <a:t>FOLLOW THE FLOW</a:t>
            </a:r>
            <a:endParaRPr lang="en-US" sz="1200" dirty="0"/>
          </a:p>
        </p:txBody>
      </p:sp>
      <p:sp>
        <p:nvSpPr>
          <p:cNvPr id="11" name="Text 9"/>
          <p:cNvSpPr/>
          <p:nvPr/>
        </p:nvSpPr>
        <p:spPr>
          <a:xfrm>
            <a:off x="3566160" y="3429000"/>
            <a:ext cx="2103120" cy="100584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Don't just see what's there and be capable of tracking how data patterns move.</a:t>
            </a:r>
            <a:endParaRPr lang="en-US" sz="1200" dirty="0"/>
          </a:p>
        </p:txBody>
      </p:sp>
      <p:sp>
        <p:nvSpPr>
          <p:cNvPr id="12" name="Shape 10"/>
          <p:cNvSpPr/>
          <p:nvPr/>
        </p:nvSpPr>
        <p:spPr>
          <a:xfrm>
            <a:off x="6126480" y="2880360"/>
            <a:ext cx="2468880" cy="1691640"/>
          </a:xfrm>
          <a:prstGeom prst="rect">
            <a:avLst/>
          </a:prstGeom>
          <a:solidFill>
            <a:srgbClr val="FFFFFF"/>
          </a:solidFill>
          <a:ln w="6350">
            <a:solidFill>
              <a:srgbClr val="D1D5DB"/>
            </a:solidFill>
            <a:prstDash val="solid"/>
          </a:ln>
        </p:spPr>
        <p:txBody>
          <a:bodyPr/>
          <a:lstStyle/>
          <a:p>
            <a:endParaRPr lang="en-AE"/>
          </a:p>
        </p:txBody>
      </p:sp>
      <p:sp>
        <p:nvSpPr>
          <p:cNvPr id="13" name="Shape 11"/>
          <p:cNvSpPr/>
          <p:nvPr/>
        </p:nvSpPr>
        <p:spPr>
          <a:xfrm>
            <a:off x="6126480" y="2880360"/>
            <a:ext cx="54864" cy="1691640"/>
          </a:xfrm>
          <a:prstGeom prst="rect">
            <a:avLst/>
          </a:prstGeom>
          <a:solidFill>
            <a:srgbClr val="B8924A"/>
          </a:solidFill>
          <a:ln/>
        </p:spPr>
        <p:txBody>
          <a:bodyPr/>
          <a:lstStyle/>
          <a:p>
            <a:endParaRPr lang="en-AE"/>
          </a:p>
        </p:txBody>
      </p:sp>
      <p:sp>
        <p:nvSpPr>
          <p:cNvPr id="14" name="Text 12"/>
          <p:cNvSpPr/>
          <p:nvPr/>
        </p:nvSpPr>
        <p:spPr>
          <a:xfrm>
            <a:off x="6355080" y="3063240"/>
            <a:ext cx="2103120" cy="320040"/>
          </a:xfrm>
          <a:prstGeom prst="rect">
            <a:avLst/>
          </a:prstGeom>
          <a:noFill/>
          <a:ln/>
        </p:spPr>
        <p:txBody>
          <a:bodyPr wrap="square" lIns="0" tIns="0" rIns="0" bIns="0" rtlCol="0" anchor="ctr"/>
          <a:lstStyle/>
          <a:p>
            <a:pPr marL="0" indent="0">
              <a:buNone/>
            </a:pPr>
            <a:r>
              <a:rPr lang="en-US" sz="1200" b="1" kern="0" spc="300" dirty="0">
                <a:solidFill>
                  <a:srgbClr val="1E3A5F"/>
                </a:solidFill>
                <a:latin typeface="Calibri" pitchFamily="34" charset="0"/>
                <a:ea typeface="Calibri" pitchFamily="34" charset="-122"/>
                <a:cs typeface="Calibri" pitchFamily="34" charset="-120"/>
              </a:rPr>
              <a:t>REORGANIZE ITSELF</a:t>
            </a:r>
            <a:endParaRPr lang="en-US" sz="1200" dirty="0"/>
          </a:p>
        </p:txBody>
      </p:sp>
      <p:sp>
        <p:nvSpPr>
          <p:cNvPr id="15" name="Text 13"/>
          <p:cNvSpPr/>
          <p:nvPr/>
        </p:nvSpPr>
        <p:spPr>
          <a:xfrm>
            <a:off x="6355080" y="3429000"/>
            <a:ext cx="2103120" cy="100584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Build its own structure as it learns. No engineer required.</a:t>
            </a:r>
            <a:endParaRPr lang="en-US" sz="1200" dirty="0"/>
          </a:p>
        </p:txBody>
      </p:sp>
      <p:sp>
        <p:nvSpPr>
          <p:cNvPr id="16" name="Text 14"/>
          <p:cNvSpPr/>
          <p:nvPr/>
        </p:nvSpPr>
        <p:spPr>
          <a:xfrm>
            <a:off x="548640" y="4800600"/>
            <a:ext cx="3657600" cy="228600"/>
          </a:xfrm>
          <a:prstGeom prst="rect">
            <a:avLst/>
          </a:prstGeom>
          <a:noFill/>
          <a:ln/>
        </p:spPr>
        <p:txBody>
          <a:bodyPr wrap="square" lIns="0" tIns="0" rIns="0" bIns="0" rtlCol="0" anchor="ctr"/>
          <a:lstStyle/>
          <a:p>
            <a:pPr marL="0" indent="0">
              <a:buNone/>
            </a:pPr>
            <a:r>
              <a:rPr lang="en-US" sz="900" kern="0" spc="200" dirty="0">
                <a:solidFill>
                  <a:srgbClr val="4B5563"/>
                </a:solidFill>
                <a:latin typeface="Calibri" pitchFamily="34" charset="0"/>
                <a:ea typeface="Calibri" pitchFamily="34" charset="-122"/>
                <a:cs typeface="Calibri" pitchFamily="34" charset="-120"/>
              </a:rPr>
              <a:t>LATENT OCEAN</a:t>
            </a:r>
            <a:endParaRPr lang="en-US" sz="900" dirty="0"/>
          </a:p>
        </p:txBody>
      </p:sp>
      <p:sp>
        <p:nvSpPr>
          <p:cNvPr id="17" name="Text 15"/>
          <p:cNvSpPr/>
          <p:nvPr/>
        </p:nvSpPr>
        <p:spPr>
          <a:xfrm>
            <a:off x="7680960" y="4800600"/>
            <a:ext cx="914400" cy="228600"/>
          </a:xfrm>
          <a:prstGeom prst="rect">
            <a:avLst/>
          </a:prstGeom>
          <a:noFill/>
          <a:ln/>
        </p:spPr>
        <p:txBody>
          <a:bodyPr wrap="square" lIns="0" tIns="0" rIns="0" bIns="0" rtlCol="0" anchor="ctr"/>
          <a:lstStyle/>
          <a:p>
            <a:pPr marL="0" indent="0" algn="r">
              <a:buNone/>
            </a:pPr>
            <a:r>
              <a:rPr lang="en-US" sz="900" dirty="0">
                <a:solidFill>
                  <a:srgbClr val="4B5563"/>
                </a:solidFill>
                <a:latin typeface="Calibri" pitchFamily="34" charset="0"/>
                <a:ea typeface="Calibri" pitchFamily="34" charset="-122"/>
                <a:cs typeface="Calibr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CF8"/>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400" dirty="0">
                <a:solidFill>
                  <a:srgbClr val="B8924A"/>
                </a:solidFill>
                <a:latin typeface="Calibri" pitchFamily="34" charset="0"/>
                <a:ea typeface="Calibri" pitchFamily="34" charset="-122"/>
                <a:cs typeface="Calibri" pitchFamily="34" charset="-120"/>
              </a:rPr>
              <a:t>WHAT IT IS</a:t>
            </a:r>
            <a:endParaRPr lang="en-US" sz="1200" dirty="0"/>
          </a:p>
        </p:txBody>
      </p:sp>
      <p:sp>
        <p:nvSpPr>
          <p:cNvPr id="3" name="Text 1"/>
          <p:cNvSpPr/>
          <p:nvPr/>
        </p:nvSpPr>
        <p:spPr>
          <a:xfrm>
            <a:off x="548640" y="914400"/>
            <a:ext cx="8046720" cy="1280160"/>
          </a:xfrm>
          <a:prstGeom prst="rect">
            <a:avLst/>
          </a:prstGeom>
          <a:noFill/>
          <a:ln/>
        </p:spPr>
        <p:txBody>
          <a:bodyPr wrap="square" lIns="0" tIns="0" rIns="0" bIns="0" rtlCol="0" anchor="ctr"/>
          <a:lstStyle/>
          <a:p>
            <a:pPr marL="0" indent="0" algn="ctr">
              <a:buNone/>
            </a:pPr>
            <a:r>
              <a:rPr lang="en-US" sz="2800" dirty="0">
                <a:solidFill>
                  <a:srgbClr val="1A1A1A"/>
                </a:solidFill>
                <a:latin typeface="Georgia" pitchFamily="34" charset="0"/>
                <a:ea typeface="Georgia" pitchFamily="34" charset="-122"/>
                <a:cs typeface="Georgia" pitchFamily="34" charset="-120"/>
              </a:rPr>
              <a:t>A new way to read data;</a:t>
            </a:r>
            <a:endParaRPr lang="en-US" sz="2800" dirty="0"/>
          </a:p>
          <a:p>
            <a:pPr marL="0" indent="0" algn="ctr">
              <a:buNone/>
            </a:pPr>
            <a:r>
              <a:rPr lang="en-US" sz="2800" dirty="0">
                <a:solidFill>
                  <a:srgbClr val="1A1A1A"/>
                </a:solidFill>
                <a:latin typeface="Georgia" pitchFamily="34" charset="0"/>
                <a:ea typeface="Georgia" pitchFamily="34" charset="-122"/>
                <a:cs typeface="Georgia" pitchFamily="34" charset="-120"/>
              </a:rPr>
              <a:t>one that lets every kind of information speak the same language.</a:t>
            </a:r>
            <a:endParaRPr lang="en-US" sz="2800" dirty="0"/>
          </a:p>
        </p:txBody>
      </p:sp>
      <p:sp>
        <p:nvSpPr>
          <p:cNvPr id="4" name="Text 2"/>
          <p:cNvSpPr/>
          <p:nvPr/>
        </p:nvSpPr>
        <p:spPr>
          <a:xfrm>
            <a:off x="548640" y="2240280"/>
            <a:ext cx="8046720" cy="457200"/>
          </a:xfrm>
          <a:prstGeom prst="rect">
            <a:avLst/>
          </a:prstGeom>
          <a:noFill/>
          <a:ln/>
        </p:spPr>
        <p:txBody>
          <a:bodyPr wrap="square" lIns="0" tIns="0" rIns="0" bIns="0" rtlCol="0" anchor="ctr"/>
          <a:lstStyle/>
          <a:p>
            <a:pPr marL="0" indent="0" algn="ctr">
              <a:buNone/>
            </a:pPr>
            <a:r>
              <a:rPr lang="en-US" sz="1800" i="1" dirty="0">
                <a:solidFill>
                  <a:srgbClr val="B8924A"/>
                </a:solidFill>
                <a:latin typeface="Georgia" pitchFamily="34" charset="0"/>
                <a:ea typeface="Georgia" pitchFamily="34" charset="-122"/>
                <a:cs typeface="Georgia" pitchFamily="34" charset="-120"/>
              </a:rPr>
              <a:t>Lets every kind of data line up against every other.</a:t>
            </a:r>
            <a:endParaRPr lang="en-US" sz="1800" dirty="0"/>
          </a:p>
        </p:txBody>
      </p:sp>
      <p:sp>
        <p:nvSpPr>
          <p:cNvPr id="5" name="Shape 3"/>
          <p:cNvSpPr/>
          <p:nvPr/>
        </p:nvSpPr>
        <p:spPr>
          <a:xfrm>
            <a:off x="548640" y="3657600"/>
            <a:ext cx="2468880" cy="548640"/>
          </a:xfrm>
          <a:prstGeom prst="rect">
            <a:avLst/>
          </a:prstGeom>
          <a:solidFill>
            <a:srgbClr val="1E3A5F"/>
          </a:solidFill>
          <a:ln/>
        </p:spPr>
        <p:txBody>
          <a:bodyPr/>
          <a:lstStyle/>
          <a:p>
            <a:endParaRPr lang="en-AE"/>
          </a:p>
        </p:txBody>
      </p:sp>
      <p:sp>
        <p:nvSpPr>
          <p:cNvPr id="6" name="Text 4"/>
          <p:cNvSpPr/>
          <p:nvPr/>
        </p:nvSpPr>
        <p:spPr>
          <a:xfrm>
            <a:off x="548640" y="3657600"/>
            <a:ext cx="2468880" cy="548640"/>
          </a:xfrm>
          <a:prstGeom prst="rect">
            <a:avLst/>
          </a:prstGeom>
          <a:noFill/>
          <a:ln/>
        </p:spPr>
        <p:txBody>
          <a:bodyPr wrap="square" lIns="0" tIns="0" rIns="0" bIns="0" rtlCol="0" anchor="ctr"/>
          <a:lstStyle/>
          <a:p>
            <a:pPr marL="0" indent="0" algn="ctr">
              <a:buNone/>
            </a:pPr>
            <a:r>
              <a:rPr lang="en-US" sz="1400" b="1" kern="0" spc="300" dirty="0">
                <a:solidFill>
                  <a:srgbClr val="B8924A"/>
                </a:solidFill>
                <a:latin typeface="Calibri" pitchFamily="34" charset="0"/>
                <a:ea typeface="Calibri" pitchFamily="34" charset="-122"/>
                <a:cs typeface="Calibri" pitchFamily="34" charset="-120"/>
              </a:rPr>
              <a:t>LESS NOISE</a:t>
            </a:r>
            <a:endParaRPr lang="en-US" sz="1400" dirty="0"/>
          </a:p>
        </p:txBody>
      </p:sp>
      <p:sp>
        <p:nvSpPr>
          <p:cNvPr id="7" name="Shape 5"/>
          <p:cNvSpPr/>
          <p:nvPr/>
        </p:nvSpPr>
        <p:spPr>
          <a:xfrm>
            <a:off x="3337560" y="3657600"/>
            <a:ext cx="2468880" cy="548640"/>
          </a:xfrm>
          <a:prstGeom prst="rect">
            <a:avLst/>
          </a:prstGeom>
          <a:solidFill>
            <a:srgbClr val="1E3A5F"/>
          </a:solidFill>
          <a:ln/>
        </p:spPr>
        <p:txBody>
          <a:bodyPr/>
          <a:lstStyle/>
          <a:p>
            <a:endParaRPr lang="en-AE"/>
          </a:p>
        </p:txBody>
      </p:sp>
      <p:sp>
        <p:nvSpPr>
          <p:cNvPr id="8" name="Text 6"/>
          <p:cNvSpPr/>
          <p:nvPr/>
        </p:nvSpPr>
        <p:spPr>
          <a:xfrm>
            <a:off x="3337560" y="3657600"/>
            <a:ext cx="2468880" cy="548640"/>
          </a:xfrm>
          <a:prstGeom prst="rect">
            <a:avLst/>
          </a:prstGeom>
          <a:noFill/>
          <a:ln/>
        </p:spPr>
        <p:txBody>
          <a:bodyPr wrap="square" lIns="0" tIns="0" rIns="0" bIns="0" rtlCol="0" anchor="ctr"/>
          <a:lstStyle/>
          <a:p>
            <a:pPr marL="0" indent="0" algn="ctr">
              <a:buNone/>
            </a:pPr>
            <a:r>
              <a:rPr lang="en-US" sz="1400" b="1" kern="0" spc="300" dirty="0">
                <a:solidFill>
                  <a:srgbClr val="B8924A"/>
                </a:solidFill>
                <a:latin typeface="Calibri" pitchFamily="34" charset="0"/>
                <a:ea typeface="Calibri" pitchFamily="34" charset="-122"/>
                <a:cs typeface="Calibri" pitchFamily="34" charset="-120"/>
              </a:rPr>
              <a:t>REUSABLE PARTS</a:t>
            </a:r>
            <a:endParaRPr lang="en-US" sz="1400" dirty="0"/>
          </a:p>
        </p:txBody>
      </p:sp>
      <p:sp>
        <p:nvSpPr>
          <p:cNvPr id="9" name="Shape 7"/>
          <p:cNvSpPr/>
          <p:nvPr/>
        </p:nvSpPr>
        <p:spPr>
          <a:xfrm>
            <a:off x="6126480" y="3657600"/>
            <a:ext cx="2468880" cy="548640"/>
          </a:xfrm>
          <a:prstGeom prst="rect">
            <a:avLst/>
          </a:prstGeom>
          <a:solidFill>
            <a:srgbClr val="1E3A5F"/>
          </a:solidFill>
          <a:ln/>
        </p:spPr>
        <p:txBody>
          <a:bodyPr/>
          <a:lstStyle/>
          <a:p>
            <a:endParaRPr lang="en-AE"/>
          </a:p>
        </p:txBody>
      </p:sp>
      <p:sp>
        <p:nvSpPr>
          <p:cNvPr id="10" name="Text 8"/>
          <p:cNvSpPr/>
          <p:nvPr/>
        </p:nvSpPr>
        <p:spPr>
          <a:xfrm>
            <a:off x="6126480" y="3657600"/>
            <a:ext cx="2468880" cy="548640"/>
          </a:xfrm>
          <a:prstGeom prst="rect">
            <a:avLst/>
          </a:prstGeom>
          <a:noFill/>
          <a:ln/>
        </p:spPr>
        <p:txBody>
          <a:bodyPr wrap="square" lIns="0" tIns="0" rIns="0" bIns="0" rtlCol="0" anchor="ctr"/>
          <a:lstStyle/>
          <a:p>
            <a:pPr marL="0" indent="0" algn="ctr">
              <a:buNone/>
            </a:pPr>
            <a:r>
              <a:rPr lang="en-US" sz="1400" b="1" kern="0" spc="300" dirty="0">
                <a:solidFill>
                  <a:srgbClr val="B8924A"/>
                </a:solidFill>
                <a:latin typeface="Calibri" pitchFamily="34" charset="0"/>
                <a:ea typeface="Calibri" pitchFamily="34" charset="-122"/>
                <a:cs typeface="Calibri" pitchFamily="34" charset="-120"/>
              </a:rPr>
              <a:t>ONE SHARED LANGUAGE</a:t>
            </a:r>
            <a:endParaRPr lang="en-US" sz="1400" dirty="0"/>
          </a:p>
        </p:txBody>
      </p:sp>
      <p:sp>
        <p:nvSpPr>
          <p:cNvPr id="11" name="Text 9"/>
          <p:cNvSpPr/>
          <p:nvPr/>
        </p:nvSpPr>
        <p:spPr>
          <a:xfrm>
            <a:off x="548640" y="4800600"/>
            <a:ext cx="3657600" cy="228600"/>
          </a:xfrm>
          <a:prstGeom prst="rect">
            <a:avLst/>
          </a:prstGeom>
          <a:noFill/>
          <a:ln/>
        </p:spPr>
        <p:txBody>
          <a:bodyPr wrap="square" lIns="0" tIns="0" rIns="0" bIns="0" rtlCol="0" anchor="ctr"/>
          <a:lstStyle/>
          <a:p>
            <a:pPr marL="0" indent="0">
              <a:buNone/>
            </a:pPr>
            <a:r>
              <a:rPr lang="en-US" sz="900" kern="0" spc="200" dirty="0">
                <a:solidFill>
                  <a:srgbClr val="4B5563"/>
                </a:solidFill>
                <a:latin typeface="Calibri" pitchFamily="34" charset="0"/>
                <a:ea typeface="Calibri" pitchFamily="34" charset="-122"/>
                <a:cs typeface="Calibri" pitchFamily="34" charset="-120"/>
              </a:rPr>
              <a:t>LATENT OCEAN</a:t>
            </a:r>
            <a:endParaRPr lang="en-US" sz="900" dirty="0"/>
          </a:p>
        </p:txBody>
      </p:sp>
      <p:sp>
        <p:nvSpPr>
          <p:cNvPr id="12" name="Text 10"/>
          <p:cNvSpPr/>
          <p:nvPr/>
        </p:nvSpPr>
        <p:spPr>
          <a:xfrm>
            <a:off x="7680960" y="4800600"/>
            <a:ext cx="914400" cy="228600"/>
          </a:xfrm>
          <a:prstGeom prst="rect">
            <a:avLst/>
          </a:prstGeom>
          <a:noFill/>
          <a:ln/>
        </p:spPr>
        <p:txBody>
          <a:bodyPr wrap="square" lIns="0" tIns="0" rIns="0" bIns="0" rtlCol="0" anchor="ctr"/>
          <a:lstStyle/>
          <a:p>
            <a:pPr marL="0" indent="0" algn="r">
              <a:buNone/>
            </a:pPr>
            <a:r>
              <a:rPr lang="en-US" sz="900" dirty="0">
                <a:solidFill>
                  <a:srgbClr val="4B5563"/>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CF8"/>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400" dirty="0">
                <a:solidFill>
                  <a:srgbClr val="B8924A"/>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777240"/>
            <a:ext cx="8046720" cy="548640"/>
          </a:xfrm>
          <a:prstGeom prst="rect">
            <a:avLst/>
          </a:prstGeom>
          <a:noFill/>
          <a:ln/>
        </p:spPr>
        <p:txBody>
          <a:bodyPr wrap="square" lIns="0" tIns="0" rIns="0" bIns="0" rtlCol="0" anchor="ctr"/>
          <a:lstStyle/>
          <a:p>
            <a:pPr marL="0" indent="0">
              <a:buNone/>
            </a:pPr>
            <a:r>
              <a:rPr lang="en-US" sz="2800" dirty="0">
                <a:solidFill>
                  <a:srgbClr val="1A1A1A"/>
                </a:solidFill>
                <a:latin typeface="Georgia" pitchFamily="34" charset="0"/>
                <a:ea typeface="Georgia" pitchFamily="34" charset="-122"/>
                <a:cs typeface="Georgia" pitchFamily="34" charset="-120"/>
              </a:rPr>
              <a:t>Two things, attached to every row.</a:t>
            </a:r>
            <a:endParaRPr lang="en-US" sz="2800" dirty="0"/>
          </a:p>
        </p:txBody>
      </p:sp>
      <p:sp>
        <p:nvSpPr>
          <p:cNvPr id="4" name="Shape 2"/>
          <p:cNvSpPr/>
          <p:nvPr/>
        </p:nvSpPr>
        <p:spPr>
          <a:xfrm>
            <a:off x="548640" y="1554480"/>
            <a:ext cx="3794760" cy="2926080"/>
          </a:xfrm>
          <a:prstGeom prst="rect">
            <a:avLst/>
          </a:prstGeom>
          <a:solidFill>
            <a:srgbClr val="FFFFFF"/>
          </a:solidFill>
          <a:ln w="6350">
            <a:solidFill>
              <a:srgbClr val="D1D5DB"/>
            </a:solidFill>
            <a:prstDash val="solid"/>
          </a:ln>
        </p:spPr>
        <p:txBody>
          <a:bodyPr/>
          <a:lstStyle/>
          <a:p>
            <a:endParaRPr lang="en-AE"/>
          </a:p>
        </p:txBody>
      </p:sp>
      <p:sp>
        <p:nvSpPr>
          <p:cNvPr id="5" name="Shape 3"/>
          <p:cNvSpPr/>
          <p:nvPr/>
        </p:nvSpPr>
        <p:spPr>
          <a:xfrm>
            <a:off x="548640" y="1554480"/>
            <a:ext cx="3794760" cy="1005840"/>
          </a:xfrm>
          <a:prstGeom prst="rect">
            <a:avLst/>
          </a:prstGeom>
          <a:solidFill>
            <a:srgbClr val="1E3A5F"/>
          </a:solidFill>
          <a:ln/>
        </p:spPr>
        <p:txBody>
          <a:bodyPr/>
          <a:lstStyle/>
          <a:p>
            <a:endParaRPr lang="en-AE"/>
          </a:p>
        </p:txBody>
      </p:sp>
      <p:sp>
        <p:nvSpPr>
          <p:cNvPr id="6" name="Text 4"/>
          <p:cNvSpPr/>
          <p:nvPr/>
        </p:nvSpPr>
        <p:spPr>
          <a:xfrm>
            <a:off x="548640" y="1600200"/>
            <a:ext cx="3794760" cy="777240"/>
          </a:xfrm>
          <a:prstGeom prst="rect">
            <a:avLst/>
          </a:prstGeom>
          <a:noFill/>
          <a:ln/>
        </p:spPr>
        <p:txBody>
          <a:bodyPr wrap="square" lIns="0" tIns="0" rIns="0" bIns="0" rtlCol="0" anchor="ctr"/>
          <a:lstStyle/>
          <a:p>
            <a:pPr marL="0" indent="0" algn="ctr">
              <a:buNone/>
            </a:pPr>
            <a:r>
              <a:rPr lang="en-US" sz="5600" b="1" dirty="0">
                <a:solidFill>
                  <a:srgbClr val="B8924A"/>
                </a:solidFill>
                <a:latin typeface="Georgia" pitchFamily="34" charset="0"/>
                <a:ea typeface="Georgia" pitchFamily="34" charset="-122"/>
                <a:cs typeface="Georgia" pitchFamily="34" charset="-120"/>
              </a:rPr>
              <a:t>48</a:t>
            </a:r>
            <a:endParaRPr lang="en-US" sz="5600" dirty="0"/>
          </a:p>
        </p:txBody>
      </p:sp>
      <p:sp>
        <p:nvSpPr>
          <p:cNvPr id="7" name="Text 5"/>
          <p:cNvSpPr/>
          <p:nvPr/>
        </p:nvSpPr>
        <p:spPr>
          <a:xfrm>
            <a:off x="548640" y="2331720"/>
            <a:ext cx="3794760" cy="228600"/>
          </a:xfrm>
          <a:prstGeom prst="rect">
            <a:avLst/>
          </a:prstGeom>
          <a:noFill/>
          <a:ln/>
        </p:spPr>
        <p:txBody>
          <a:bodyPr wrap="square" lIns="0" tIns="0" rIns="0" bIns="0" rtlCol="0" anchor="ctr"/>
          <a:lstStyle/>
          <a:p>
            <a:pPr marL="0" indent="0" algn="ctr">
              <a:buNone/>
            </a:pPr>
            <a:r>
              <a:rPr lang="en-US" sz="900" b="1" kern="0" spc="400" dirty="0">
                <a:solidFill>
                  <a:srgbClr val="D1D5DB"/>
                </a:solidFill>
                <a:latin typeface="Calibri" pitchFamily="34" charset="0"/>
                <a:ea typeface="Calibri" pitchFamily="34" charset="-122"/>
                <a:cs typeface="Calibri" pitchFamily="34" charset="-120"/>
              </a:rPr>
              <a:t>BITS</a:t>
            </a:r>
            <a:endParaRPr lang="en-US" sz="900" dirty="0"/>
          </a:p>
        </p:txBody>
      </p:sp>
      <p:sp>
        <p:nvSpPr>
          <p:cNvPr id="8" name="Text 6"/>
          <p:cNvSpPr/>
          <p:nvPr/>
        </p:nvSpPr>
        <p:spPr>
          <a:xfrm>
            <a:off x="822960" y="2697480"/>
            <a:ext cx="3246120" cy="320040"/>
          </a:xfrm>
          <a:prstGeom prst="rect">
            <a:avLst/>
          </a:prstGeom>
          <a:noFill/>
          <a:ln/>
        </p:spPr>
        <p:txBody>
          <a:bodyPr wrap="square" lIns="0" tIns="0" rIns="0" bIns="0" rtlCol="0" anchor="ctr"/>
          <a:lstStyle/>
          <a:p>
            <a:pPr marL="0" indent="0" algn="ctr">
              <a:buNone/>
            </a:pPr>
            <a:r>
              <a:rPr lang="en-US" sz="1300" b="1" kern="0" spc="300" dirty="0">
                <a:solidFill>
                  <a:srgbClr val="1E3A5F"/>
                </a:solidFill>
                <a:latin typeface="Calibri" pitchFamily="34" charset="0"/>
                <a:ea typeface="Calibri" pitchFamily="34" charset="-122"/>
                <a:cs typeface="Calibri" pitchFamily="34" charset="-120"/>
              </a:rPr>
              <a:t>A FINGERPRINT</a:t>
            </a:r>
            <a:endParaRPr lang="en-US" sz="1300" dirty="0"/>
          </a:p>
        </p:txBody>
      </p:sp>
      <p:sp>
        <p:nvSpPr>
          <p:cNvPr id="9" name="Text 7"/>
          <p:cNvSpPr/>
          <p:nvPr/>
        </p:nvSpPr>
        <p:spPr>
          <a:xfrm>
            <a:off x="822960" y="3108960"/>
            <a:ext cx="3246120" cy="1234440"/>
          </a:xfrm>
          <a:prstGeom prst="rect">
            <a:avLst/>
          </a:prstGeom>
          <a:noFill/>
          <a:ln/>
        </p:spPr>
        <p:txBody>
          <a:bodyPr wrap="square" lIns="0" tIns="0" rIns="0" bIns="0" rtlCol="0" anchor="ctr"/>
          <a:lstStyle/>
          <a:p>
            <a:pPr marL="0" indent="0" algn="l">
              <a:buNone/>
            </a:pPr>
            <a:r>
              <a:rPr lang="en-US" sz="1200" dirty="0">
                <a:solidFill>
                  <a:srgbClr val="1A1A1A"/>
                </a:solidFill>
                <a:latin typeface="Calibri" pitchFamily="34" charset="0"/>
                <a:ea typeface="Calibri" pitchFamily="34" charset="-122"/>
                <a:cs typeface="Calibri" pitchFamily="34" charset="-120"/>
              </a:rPr>
              <a:t>A barcode for every row of data. Two rows that are similar get similar barcodes. Two rows that are different get very different ones. This is how the system knows what belongs together, across millions of rows.</a:t>
            </a:r>
            <a:endParaRPr lang="en-US" sz="1200" dirty="0"/>
          </a:p>
        </p:txBody>
      </p:sp>
      <p:sp>
        <p:nvSpPr>
          <p:cNvPr id="10" name="Shape 8"/>
          <p:cNvSpPr/>
          <p:nvPr/>
        </p:nvSpPr>
        <p:spPr>
          <a:xfrm>
            <a:off x="4800600" y="1554480"/>
            <a:ext cx="3794760" cy="2926080"/>
          </a:xfrm>
          <a:prstGeom prst="rect">
            <a:avLst/>
          </a:prstGeom>
          <a:solidFill>
            <a:srgbClr val="FFFFFF"/>
          </a:solidFill>
          <a:ln w="6350">
            <a:solidFill>
              <a:srgbClr val="D1D5DB"/>
            </a:solidFill>
            <a:prstDash val="solid"/>
          </a:ln>
        </p:spPr>
        <p:txBody>
          <a:bodyPr/>
          <a:lstStyle/>
          <a:p>
            <a:endParaRPr lang="en-AE"/>
          </a:p>
        </p:txBody>
      </p:sp>
      <p:sp>
        <p:nvSpPr>
          <p:cNvPr id="11" name="Shape 9"/>
          <p:cNvSpPr/>
          <p:nvPr/>
        </p:nvSpPr>
        <p:spPr>
          <a:xfrm>
            <a:off x="4800600" y="1554480"/>
            <a:ext cx="3794760" cy="1005840"/>
          </a:xfrm>
          <a:prstGeom prst="rect">
            <a:avLst/>
          </a:prstGeom>
          <a:solidFill>
            <a:srgbClr val="1E3A5F"/>
          </a:solidFill>
          <a:ln/>
        </p:spPr>
        <p:txBody>
          <a:bodyPr/>
          <a:lstStyle/>
          <a:p>
            <a:endParaRPr lang="en-AE"/>
          </a:p>
        </p:txBody>
      </p:sp>
      <p:sp>
        <p:nvSpPr>
          <p:cNvPr id="12" name="Text 10"/>
          <p:cNvSpPr/>
          <p:nvPr/>
        </p:nvSpPr>
        <p:spPr>
          <a:xfrm>
            <a:off x="4800600" y="1600200"/>
            <a:ext cx="3794760" cy="777240"/>
          </a:xfrm>
          <a:prstGeom prst="rect">
            <a:avLst/>
          </a:prstGeom>
          <a:noFill/>
          <a:ln/>
        </p:spPr>
        <p:txBody>
          <a:bodyPr wrap="square" lIns="0" tIns="0" rIns="0" bIns="0" rtlCol="0" anchor="ctr"/>
          <a:lstStyle/>
          <a:p>
            <a:pPr marL="0" indent="0" algn="ctr">
              <a:buNone/>
            </a:pPr>
            <a:r>
              <a:rPr lang="en-US" sz="5600" b="1" dirty="0">
                <a:solidFill>
                  <a:srgbClr val="B8924A"/>
                </a:solidFill>
                <a:latin typeface="Georgia" pitchFamily="34" charset="0"/>
                <a:ea typeface="Georgia" pitchFamily="34" charset="-122"/>
                <a:cs typeface="Georgia" pitchFamily="34" charset="-120"/>
              </a:rPr>
              <a:t>4</a:t>
            </a:r>
            <a:endParaRPr lang="en-US" sz="5600" dirty="0"/>
          </a:p>
        </p:txBody>
      </p:sp>
      <p:sp>
        <p:nvSpPr>
          <p:cNvPr id="13" name="Text 11"/>
          <p:cNvSpPr/>
          <p:nvPr/>
        </p:nvSpPr>
        <p:spPr>
          <a:xfrm>
            <a:off x="4800600" y="2331720"/>
            <a:ext cx="3794760" cy="228600"/>
          </a:xfrm>
          <a:prstGeom prst="rect">
            <a:avLst/>
          </a:prstGeom>
          <a:noFill/>
          <a:ln/>
        </p:spPr>
        <p:txBody>
          <a:bodyPr wrap="square" lIns="0" tIns="0" rIns="0" bIns="0" rtlCol="0" anchor="ctr"/>
          <a:lstStyle/>
          <a:p>
            <a:pPr marL="0" indent="0" algn="ctr">
              <a:buNone/>
            </a:pPr>
            <a:r>
              <a:rPr lang="en-US" sz="900" b="1" kern="0" spc="400" dirty="0">
                <a:solidFill>
                  <a:srgbClr val="D1D5DB"/>
                </a:solidFill>
                <a:latin typeface="Calibri" pitchFamily="34" charset="0"/>
                <a:ea typeface="Calibri" pitchFamily="34" charset="-122"/>
                <a:cs typeface="Calibri" pitchFamily="34" charset="-120"/>
              </a:rPr>
              <a:t>NUMBERS</a:t>
            </a:r>
            <a:endParaRPr lang="en-US" sz="900" dirty="0"/>
          </a:p>
        </p:txBody>
      </p:sp>
      <p:sp>
        <p:nvSpPr>
          <p:cNvPr id="14" name="Text 12"/>
          <p:cNvSpPr/>
          <p:nvPr/>
        </p:nvSpPr>
        <p:spPr>
          <a:xfrm>
            <a:off x="5074920" y="2697480"/>
            <a:ext cx="3246120" cy="320040"/>
          </a:xfrm>
          <a:prstGeom prst="rect">
            <a:avLst/>
          </a:prstGeom>
          <a:noFill/>
          <a:ln/>
        </p:spPr>
        <p:txBody>
          <a:bodyPr wrap="square" lIns="0" tIns="0" rIns="0" bIns="0" rtlCol="0" anchor="ctr"/>
          <a:lstStyle/>
          <a:p>
            <a:pPr marL="0" indent="0" algn="ctr">
              <a:buNone/>
            </a:pPr>
            <a:r>
              <a:rPr lang="en-US" sz="1300" b="1" kern="0" spc="300" dirty="0">
                <a:solidFill>
                  <a:srgbClr val="1E3A5F"/>
                </a:solidFill>
                <a:latin typeface="Calibri" pitchFamily="34" charset="0"/>
                <a:ea typeface="Calibri" pitchFamily="34" charset="-122"/>
                <a:cs typeface="Calibri" pitchFamily="34" charset="-120"/>
              </a:rPr>
              <a:t>AN UNUSUALNESS SCORE</a:t>
            </a:r>
            <a:endParaRPr lang="en-US" sz="1300" dirty="0"/>
          </a:p>
        </p:txBody>
      </p:sp>
      <p:sp>
        <p:nvSpPr>
          <p:cNvPr id="15" name="Text 13"/>
          <p:cNvSpPr/>
          <p:nvPr/>
        </p:nvSpPr>
        <p:spPr>
          <a:xfrm>
            <a:off x="5074920" y="3108960"/>
            <a:ext cx="3246120" cy="1234440"/>
          </a:xfrm>
          <a:prstGeom prst="rect">
            <a:avLst/>
          </a:prstGeom>
          <a:noFill/>
          <a:ln/>
        </p:spPr>
        <p:txBody>
          <a:bodyPr wrap="square" lIns="0" tIns="0" rIns="0" bIns="0" rtlCol="0" anchor="ctr"/>
          <a:lstStyle/>
          <a:p>
            <a:pPr marL="0" indent="0" algn="l">
              <a:buNone/>
            </a:pPr>
            <a:r>
              <a:rPr lang="en-US" sz="1200" dirty="0">
                <a:solidFill>
                  <a:srgbClr val="1A1A1A"/>
                </a:solidFill>
                <a:latin typeface="Calibri" pitchFamily="34" charset="0"/>
                <a:ea typeface="Calibri" pitchFamily="34" charset="-122"/>
                <a:cs typeface="Calibri" pitchFamily="34" charset="-120"/>
              </a:rPr>
              <a:t>Four numbers per row. How predictable it is, how rare its position is, how anomalous it looks, and how all of that combines into one signal. The score tells you whether a row is ordinary, or worth a closer look.</a:t>
            </a:r>
            <a:endParaRPr lang="en-US" sz="1200" dirty="0"/>
          </a:p>
        </p:txBody>
      </p:sp>
      <p:sp>
        <p:nvSpPr>
          <p:cNvPr id="16" name="Text 14"/>
          <p:cNvSpPr/>
          <p:nvPr/>
        </p:nvSpPr>
        <p:spPr>
          <a:xfrm>
            <a:off x="548640" y="4800600"/>
            <a:ext cx="3657600" cy="228600"/>
          </a:xfrm>
          <a:prstGeom prst="rect">
            <a:avLst/>
          </a:prstGeom>
          <a:noFill/>
          <a:ln/>
        </p:spPr>
        <p:txBody>
          <a:bodyPr wrap="square" lIns="0" tIns="0" rIns="0" bIns="0" rtlCol="0" anchor="ctr"/>
          <a:lstStyle/>
          <a:p>
            <a:pPr marL="0" indent="0">
              <a:buNone/>
            </a:pPr>
            <a:r>
              <a:rPr lang="en-US" sz="900" kern="0" spc="200" dirty="0">
                <a:solidFill>
                  <a:srgbClr val="4B5563"/>
                </a:solidFill>
                <a:latin typeface="Calibri" pitchFamily="34" charset="0"/>
                <a:ea typeface="Calibri" pitchFamily="34" charset="-122"/>
                <a:cs typeface="Calibri" pitchFamily="34" charset="-120"/>
              </a:rPr>
              <a:t>LATENT OCEAN</a:t>
            </a:r>
            <a:endParaRPr lang="en-US" sz="900" dirty="0"/>
          </a:p>
        </p:txBody>
      </p:sp>
      <p:sp>
        <p:nvSpPr>
          <p:cNvPr id="17" name="Text 15"/>
          <p:cNvSpPr/>
          <p:nvPr/>
        </p:nvSpPr>
        <p:spPr>
          <a:xfrm>
            <a:off x="7680960" y="4800600"/>
            <a:ext cx="914400" cy="228600"/>
          </a:xfrm>
          <a:prstGeom prst="rect">
            <a:avLst/>
          </a:prstGeom>
          <a:noFill/>
          <a:ln/>
        </p:spPr>
        <p:txBody>
          <a:bodyPr wrap="square" lIns="0" tIns="0" rIns="0" bIns="0" rtlCol="0" anchor="ctr"/>
          <a:lstStyle/>
          <a:p>
            <a:pPr marL="0" indent="0" algn="r">
              <a:buNone/>
            </a:pPr>
            <a:r>
              <a:rPr lang="en-US" sz="900" dirty="0">
                <a:solidFill>
                  <a:srgbClr val="4B5563"/>
                </a:solidFill>
                <a:latin typeface="Calibri" pitchFamily="34" charset="0"/>
                <a:ea typeface="Calibri" pitchFamily="34" charset="-122"/>
                <a:cs typeface="Calibri"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CF8"/>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400" dirty="0">
                <a:solidFill>
                  <a:srgbClr val="B8924A"/>
                </a:solidFill>
                <a:latin typeface="Calibri" pitchFamily="34" charset="0"/>
                <a:ea typeface="Calibri" pitchFamily="34" charset="-122"/>
                <a:cs typeface="Calibri" pitchFamily="34" charset="-120"/>
              </a:rPr>
              <a:t>BEFORE &amp; AFTER</a:t>
            </a:r>
            <a:endParaRPr lang="en-US" sz="1200" dirty="0"/>
          </a:p>
        </p:txBody>
      </p:sp>
      <p:sp>
        <p:nvSpPr>
          <p:cNvPr id="3" name="Text 1"/>
          <p:cNvSpPr/>
          <p:nvPr/>
        </p:nvSpPr>
        <p:spPr>
          <a:xfrm>
            <a:off x="548640" y="777240"/>
            <a:ext cx="8046720" cy="457200"/>
          </a:xfrm>
          <a:prstGeom prst="rect">
            <a:avLst/>
          </a:prstGeom>
          <a:noFill/>
          <a:ln/>
        </p:spPr>
        <p:txBody>
          <a:bodyPr wrap="square" lIns="0" tIns="0" rIns="0" bIns="0" rtlCol="0" anchor="ctr"/>
          <a:lstStyle/>
          <a:p>
            <a:pPr marL="0" indent="0">
              <a:buNone/>
            </a:pPr>
            <a:r>
              <a:rPr lang="en-US" sz="2200" i="1" dirty="0">
                <a:solidFill>
                  <a:srgbClr val="1A1A1A"/>
                </a:solidFill>
                <a:latin typeface="Georgia" pitchFamily="34" charset="0"/>
                <a:ea typeface="Georgia" pitchFamily="34" charset="-122"/>
                <a:cs typeface="Georgia" pitchFamily="34" charset="-120"/>
              </a:rPr>
              <a:t>What rows looked like.   What rows look like now.</a:t>
            </a:r>
            <a:endParaRPr lang="en-US" sz="2200" dirty="0"/>
          </a:p>
        </p:txBody>
      </p:sp>
      <p:sp>
        <p:nvSpPr>
          <p:cNvPr id="4" name="Text 2"/>
          <p:cNvSpPr/>
          <p:nvPr/>
        </p:nvSpPr>
        <p:spPr>
          <a:xfrm>
            <a:off x="548640" y="1188720"/>
            <a:ext cx="3794760" cy="274320"/>
          </a:xfrm>
          <a:prstGeom prst="rect">
            <a:avLst/>
          </a:prstGeom>
          <a:noFill/>
          <a:ln/>
        </p:spPr>
        <p:txBody>
          <a:bodyPr wrap="square" lIns="0" tIns="0" rIns="0" bIns="0" rtlCol="0" anchor="ctr"/>
          <a:lstStyle/>
          <a:p>
            <a:pPr marL="0" indent="0">
              <a:buNone/>
            </a:pPr>
            <a:r>
              <a:rPr lang="en-US" sz="1100" b="1" kern="0" spc="300" dirty="0">
                <a:solidFill>
                  <a:srgbClr val="4B5563"/>
                </a:solidFill>
                <a:latin typeface="Calibri" pitchFamily="34" charset="0"/>
                <a:ea typeface="Calibri" pitchFamily="34" charset="-122"/>
                <a:cs typeface="Calibri" pitchFamily="34" charset="-120"/>
              </a:rPr>
              <a:t>BEFORE  ·  JUST ROWS</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3794760" cy="1755648"/>
        </p:xfrm>
        <a:graphic>
          <a:graphicData uri="http://schemas.openxmlformats.org/drawingml/2006/table">
            <a:tbl>
              <a:tblPr/>
              <a:tblGrid>
                <a:gridCol w="1264920">
                  <a:extLst>
                    <a:ext uri="{9D8B030D-6E8A-4147-A177-3AD203B41FA5}">
                      <a16:colId xmlns:a16="http://schemas.microsoft.com/office/drawing/2014/main" val="20000"/>
                    </a:ext>
                  </a:extLst>
                </a:gridCol>
                <a:gridCol w="1264920">
                  <a:extLst>
                    <a:ext uri="{9D8B030D-6E8A-4147-A177-3AD203B41FA5}">
                      <a16:colId xmlns:a16="http://schemas.microsoft.com/office/drawing/2014/main" val="20001"/>
                    </a:ext>
                  </a:extLst>
                </a:gridCol>
                <a:gridCol w="1264920">
                  <a:extLst>
                    <a:ext uri="{9D8B030D-6E8A-4147-A177-3AD203B41FA5}">
                      <a16:colId xmlns:a16="http://schemas.microsoft.com/office/drawing/2014/main" val="20002"/>
                    </a:ext>
                  </a:extLst>
                </a:gridCol>
              </a:tblGrid>
              <a:tr h="29260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3A5F"/>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AMOUNT</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29260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A-1024</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Mar 12</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r">
                        <a:buNone/>
                      </a:pPr>
                      <a:r>
                        <a:rPr lang="en-US" sz="1100" dirty="0">
                          <a:solidFill>
                            <a:srgbClr val="1A1A1A"/>
                          </a:solidFill>
                          <a:latin typeface="Calibri" pitchFamily="34" charset="0"/>
                          <a:ea typeface="Calibri" pitchFamily="34" charset="-122"/>
                          <a:cs typeface="Calibri" pitchFamily="34" charset="-120"/>
                        </a:rPr>
                        <a:t>$340,000</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A-1025</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Mar 14</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r">
                        <a:buNone/>
                      </a:pPr>
                      <a:r>
                        <a:rPr lang="en-US" sz="1100" dirty="0">
                          <a:solidFill>
                            <a:srgbClr val="1A1A1A"/>
                          </a:solidFill>
                          <a:latin typeface="Calibri" pitchFamily="34" charset="0"/>
                          <a:ea typeface="Calibri" pitchFamily="34" charset="-122"/>
                          <a:cs typeface="Calibri" pitchFamily="34" charset="-120"/>
                        </a:rPr>
                        <a:t>$415,000</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A-1026</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Mar 18</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r">
                        <a:buNone/>
                      </a:pPr>
                      <a:r>
                        <a:rPr lang="en-US" sz="1100" dirty="0">
                          <a:solidFill>
                            <a:srgbClr val="1A1A1A"/>
                          </a:solidFill>
                          <a:latin typeface="Calibri" pitchFamily="34" charset="0"/>
                          <a:ea typeface="Calibri" pitchFamily="34" charset="-122"/>
                          <a:cs typeface="Calibri" pitchFamily="34" charset="-120"/>
                        </a:rPr>
                        <a:t>$398,000</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A-1027</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Mar 21</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r">
                        <a:buNone/>
                      </a:pPr>
                      <a:r>
                        <a:rPr lang="en-US" sz="1100" dirty="0">
                          <a:solidFill>
                            <a:srgbClr val="1A1A1A"/>
                          </a:solidFill>
                          <a:latin typeface="Calibri" pitchFamily="34" charset="0"/>
                          <a:ea typeface="Calibri" pitchFamily="34" charset="-122"/>
                          <a:cs typeface="Calibri" pitchFamily="34" charset="-120"/>
                        </a:rPr>
                        <a:t>$372,000</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A-1028</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Mar 25</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r">
                        <a:buNone/>
                      </a:pPr>
                      <a:r>
                        <a:rPr lang="en-US" sz="1100" dirty="0">
                          <a:solidFill>
                            <a:srgbClr val="1A1A1A"/>
                          </a:solidFill>
                          <a:latin typeface="Calibri" pitchFamily="34" charset="0"/>
                          <a:ea typeface="Calibri" pitchFamily="34" charset="-122"/>
                          <a:cs typeface="Calibri" pitchFamily="34" charset="-120"/>
                        </a:rPr>
                        <a:t>$450,000</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548640" y="3977640"/>
            <a:ext cx="3794760" cy="274320"/>
          </a:xfrm>
          <a:prstGeom prst="rect">
            <a:avLst/>
          </a:prstGeom>
          <a:noFill/>
          <a:ln/>
        </p:spPr>
        <p:txBody>
          <a:bodyPr wrap="square" lIns="0" tIns="0" rIns="0" bIns="0" rtlCol="0" anchor="ctr"/>
          <a:lstStyle/>
          <a:p>
            <a:pPr marL="0" indent="0">
              <a:buNone/>
            </a:pPr>
            <a:r>
              <a:rPr lang="en-US" sz="1000" i="1" dirty="0">
                <a:solidFill>
                  <a:srgbClr val="4B5563"/>
                </a:solidFill>
                <a:latin typeface="Calibri" pitchFamily="34" charset="0"/>
                <a:ea typeface="Calibri" pitchFamily="34" charset="-122"/>
                <a:cs typeface="Calibri" pitchFamily="34" charset="-120"/>
              </a:rPr>
              <a:t>Same as every other row. Nothing tells you which one matters.</a:t>
            </a:r>
            <a:endParaRPr lang="en-US" sz="1000" dirty="0"/>
          </a:p>
        </p:txBody>
      </p:sp>
      <p:sp>
        <p:nvSpPr>
          <p:cNvPr id="5" name="Text 4"/>
          <p:cNvSpPr/>
          <p:nvPr/>
        </p:nvSpPr>
        <p:spPr>
          <a:xfrm>
            <a:off x="4800600" y="1188720"/>
            <a:ext cx="3794760" cy="274320"/>
          </a:xfrm>
          <a:prstGeom prst="rect">
            <a:avLst/>
          </a:prstGeom>
          <a:noFill/>
          <a:ln/>
        </p:spPr>
        <p:txBody>
          <a:bodyPr wrap="square" lIns="0" tIns="0" rIns="0" bIns="0" rtlCol="0" anchor="ctr"/>
          <a:lstStyle/>
          <a:p>
            <a:pPr marL="0" indent="0">
              <a:buNone/>
            </a:pPr>
            <a:r>
              <a:rPr lang="en-US" sz="1100" b="1" kern="0" spc="300" dirty="0">
                <a:solidFill>
                  <a:srgbClr val="B8924A"/>
                </a:solidFill>
                <a:latin typeface="Calibri" pitchFamily="34" charset="0"/>
                <a:ea typeface="Calibri" pitchFamily="34" charset="-122"/>
                <a:cs typeface="Calibri" pitchFamily="34" charset="-120"/>
              </a:rPr>
              <a:t>AFTER  ·  STRUCTURALLY AWARE</a:t>
            </a:r>
            <a:endParaRPr lang="en-US" sz="11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800600" y="1554480"/>
          <a:ext cx="3794760" cy="1755648"/>
        </p:xfrm>
        <a:graphic>
          <a:graphicData uri="http://schemas.openxmlformats.org/drawingml/2006/table">
            <a:tbl>
              <a:tblPr/>
              <a:tblGrid>
                <a:gridCol w="1264920">
                  <a:extLst>
                    <a:ext uri="{9D8B030D-6E8A-4147-A177-3AD203B41FA5}">
                      <a16:colId xmlns:a16="http://schemas.microsoft.com/office/drawing/2014/main" val="20000"/>
                    </a:ext>
                  </a:extLst>
                </a:gridCol>
                <a:gridCol w="1264920">
                  <a:extLst>
                    <a:ext uri="{9D8B030D-6E8A-4147-A177-3AD203B41FA5}">
                      <a16:colId xmlns:a16="http://schemas.microsoft.com/office/drawing/2014/main" val="20001"/>
                    </a:ext>
                  </a:extLst>
                </a:gridCol>
                <a:gridCol w="1264920">
                  <a:extLst>
                    <a:ext uri="{9D8B030D-6E8A-4147-A177-3AD203B41FA5}">
                      <a16:colId xmlns:a16="http://schemas.microsoft.com/office/drawing/2014/main" val="20002"/>
                    </a:ext>
                  </a:extLst>
                </a:gridCol>
              </a:tblGrid>
              <a:tr h="29260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FINGERPRINT</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3A5F"/>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SCORE</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29260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A-1024</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100" dirty="0">
                          <a:solidFill>
                            <a:srgbClr val="4B5563"/>
                          </a:solidFill>
                          <a:latin typeface="Calibri" pitchFamily="34" charset="0"/>
                          <a:ea typeface="Calibri" pitchFamily="34" charset="-122"/>
                          <a:cs typeface="Calibri" pitchFamily="34" charset="-120"/>
                        </a:rPr>
                        <a:t>11010110…</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r">
                        <a:buNone/>
                      </a:pPr>
                      <a:r>
                        <a:rPr lang="en-US" sz="1100" dirty="0">
                          <a:solidFill>
                            <a:srgbClr val="4B5563"/>
                          </a:solidFill>
                          <a:latin typeface="Calibri" pitchFamily="34" charset="0"/>
                          <a:ea typeface="Calibri" pitchFamily="34" charset="-122"/>
                          <a:cs typeface="Calibri" pitchFamily="34" charset="-120"/>
                        </a:rPr>
                        <a:t>0.21</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A-1025</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100" dirty="0">
                          <a:solidFill>
                            <a:srgbClr val="4B5563"/>
                          </a:solidFill>
                          <a:latin typeface="Calibri" pitchFamily="34" charset="0"/>
                          <a:ea typeface="Calibri" pitchFamily="34" charset="-122"/>
                          <a:cs typeface="Calibri" pitchFamily="34" charset="-120"/>
                        </a:rPr>
                        <a:t>11010101…</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r">
                        <a:buNone/>
                      </a:pPr>
                      <a:r>
                        <a:rPr lang="en-US" sz="1100" dirty="0">
                          <a:solidFill>
                            <a:srgbClr val="4B5563"/>
                          </a:solidFill>
                          <a:latin typeface="Calibri" pitchFamily="34" charset="0"/>
                          <a:ea typeface="Calibri" pitchFamily="34" charset="-122"/>
                          <a:cs typeface="Calibri" pitchFamily="34" charset="-120"/>
                        </a:rPr>
                        <a:t>0.18</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A-1026</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100" dirty="0">
                          <a:solidFill>
                            <a:srgbClr val="4B5563"/>
                          </a:solidFill>
                          <a:latin typeface="Calibri" pitchFamily="34" charset="0"/>
                          <a:ea typeface="Calibri" pitchFamily="34" charset="-122"/>
                          <a:cs typeface="Calibri" pitchFamily="34" charset="-120"/>
                        </a:rPr>
                        <a:t>11011010…</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r">
                        <a:buNone/>
                      </a:pPr>
                      <a:r>
                        <a:rPr lang="en-US" sz="1100" dirty="0">
                          <a:solidFill>
                            <a:srgbClr val="4B5563"/>
                          </a:solidFill>
                          <a:latin typeface="Calibri" pitchFamily="34" charset="0"/>
                          <a:ea typeface="Calibri" pitchFamily="34" charset="-122"/>
                          <a:cs typeface="Calibri" pitchFamily="34" charset="-120"/>
                        </a:rPr>
                        <a:t>0.24</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100" b="1" dirty="0">
                          <a:solidFill>
                            <a:srgbClr val="1A1A1A"/>
                          </a:solidFill>
                          <a:latin typeface="Calibri" pitchFamily="34" charset="0"/>
                          <a:ea typeface="Calibri" pitchFamily="34" charset="-122"/>
                          <a:cs typeface="Calibri" pitchFamily="34" charset="-120"/>
                        </a:rPr>
                        <a:t>A-1027</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4D6"/>
                    </a:solidFill>
                  </a:tcPr>
                </a:tc>
                <a:tc>
                  <a:txBody>
                    <a:bodyPr/>
                    <a:lstStyle/>
                    <a:p>
                      <a:pPr marL="0" indent="0">
                        <a:buNone/>
                      </a:pPr>
                      <a:r>
                        <a:rPr lang="en-US" sz="1100" b="1" dirty="0">
                          <a:solidFill>
                            <a:srgbClr val="1E3A5F"/>
                          </a:solidFill>
                          <a:latin typeface="Calibri" pitchFamily="34" charset="0"/>
                          <a:ea typeface="Calibri" pitchFamily="34" charset="-122"/>
                          <a:cs typeface="Calibri" pitchFamily="34" charset="-120"/>
                        </a:rPr>
                        <a:t>00101110…</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4D6"/>
                    </a:solidFill>
                  </a:tcPr>
                </a:tc>
                <a:tc>
                  <a:txBody>
                    <a:bodyPr/>
                    <a:lstStyle/>
                    <a:p>
                      <a:pPr marL="0" indent="0" algn="r">
                        <a:buNone/>
                      </a:pPr>
                      <a:r>
                        <a:rPr lang="en-US" sz="1100" b="1" dirty="0">
                          <a:solidFill>
                            <a:srgbClr val="1E3A5F"/>
                          </a:solidFill>
                          <a:latin typeface="Calibri" pitchFamily="34" charset="0"/>
                          <a:ea typeface="Calibri" pitchFamily="34" charset="-122"/>
                          <a:cs typeface="Calibri" pitchFamily="34" charset="-120"/>
                        </a:rPr>
                        <a:t>0.91</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4D6"/>
                    </a:solidFill>
                  </a:tcPr>
                </a:tc>
                <a:extLst>
                  <a:ext uri="{0D108BD9-81ED-4DB2-BD59-A6C34878D82A}">
                    <a16:rowId xmlns:a16="http://schemas.microsoft.com/office/drawing/2014/main" val="10004"/>
                  </a:ext>
                </a:extLst>
              </a:tr>
              <a:tr h="292608">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A-1028</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100" dirty="0">
                          <a:solidFill>
                            <a:srgbClr val="4B5563"/>
                          </a:solidFill>
                          <a:latin typeface="Calibri" pitchFamily="34" charset="0"/>
                          <a:ea typeface="Calibri" pitchFamily="34" charset="-122"/>
                          <a:cs typeface="Calibri" pitchFamily="34" charset="-120"/>
                        </a:rPr>
                        <a:t>11010111…</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lgn="r">
                        <a:buNone/>
                      </a:pPr>
                      <a:r>
                        <a:rPr lang="en-US" sz="1100" dirty="0">
                          <a:solidFill>
                            <a:srgbClr val="4B5563"/>
                          </a:solidFill>
                          <a:latin typeface="Calibri" pitchFamily="34" charset="0"/>
                          <a:ea typeface="Calibri" pitchFamily="34" charset="-122"/>
                          <a:cs typeface="Calibri" pitchFamily="34" charset="-120"/>
                        </a:rPr>
                        <a:t>0.22</a:t>
                      </a:r>
                      <a:endParaRPr lang="en-US" sz="11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Text 5"/>
          <p:cNvSpPr/>
          <p:nvPr/>
        </p:nvSpPr>
        <p:spPr>
          <a:xfrm>
            <a:off x="4800600" y="3977640"/>
            <a:ext cx="3794760" cy="274320"/>
          </a:xfrm>
          <a:prstGeom prst="rect">
            <a:avLst/>
          </a:prstGeom>
          <a:noFill/>
          <a:ln/>
        </p:spPr>
        <p:txBody>
          <a:bodyPr wrap="square" lIns="0" tIns="0" rIns="0" bIns="0" rtlCol="0" anchor="ctr"/>
          <a:lstStyle/>
          <a:p>
            <a:pPr marL="0" indent="0">
              <a:buNone/>
            </a:pPr>
            <a:r>
              <a:rPr lang="en-US" sz="1000" i="1" dirty="0">
                <a:solidFill>
                  <a:srgbClr val="1E3A5F"/>
                </a:solidFill>
                <a:latin typeface="Calibri" pitchFamily="34" charset="0"/>
                <a:ea typeface="Calibri" pitchFamily="34" charset="-122"/>
                <a:cs typeface="Calibri" pitchFamily="34" charset="-120"/>
              </a:rPr>
              <a:t>A-1027 surfaces immediately. Its fingerprint is unlike its neighbors and its score is high.</a:t>
            </a:r>
            <a:endParaRPr lang="en-US" sz="1000" dirty="0"/>
          </a:p>
        </p:txBody>
      </p:sp>
      <p:sp>
        <p:nvSpPr>
          <p:cNvPr id="10" name="Text 6"/>
          <p:cNvSpPr/>
          <p:nvPr/>
        </p:nvSpPr>
        <p:spPr>
          <a:xfrm>
            <a:off x="548640" y="4800600"/>
            <a:ext cx="3657600" cy="228600"/>
          </a:xfrm>
          <a:prstGeom prst="rect">
            <a:avLst/>
          </a:prstGeom>
          <a:noFill/>
          <a:ln/>
        </p:spPr>
        <p:txBody>
          <a:bodyPr wrap="square" lIns="0" tIns="0" rIns="0" bIns="0" rtlCol="0" anchor="ctr"/>
          <a:lstStyle/>
          <a:p>
            <a:pPr marL="0" indent="0">
              <a:buNone/>
            </a:pPr>
            <a:r>
              <a:rPr lang="en-US" sz="900" kern="0" spc="200" dirty="0">
                <a:solidFill>
                  <a:srgbClr val="4B5563"/>
                </a:solidFill>
                <a:latin typeface="Calibri" pitchFamily="34" charset="0"/>
                <a:ea typeface="Calibri" pitchFamily="34" charset="-122"/>
                <a:cs typeface="Calibri" pitchFamily="34" charset="-120"/>
              </a:rPr>
              <a:t>LATENT OCEAN</a:t>
            </a:r>
            <a:endParaRPr lang="en-US" sz="900" dirty="0"/>
          </a:p>
        </p:txBody>
      </p:sp>
      <p:sp>
        <p:nvSpPr>
          <p:cNvPr id="11" name="Text 7"/>
          <p:cNvSpPr/>
          <p:nvPr/>
        </p:nvSpPr>
        <p:spPr>
          <a:xfrm>
            <a:off x="7680960" y="4800600"/>
            <a:ext cx="914400" cy="228600"/>
          </a:xfrm>
          <a:prstGeom prst="rect">
            <a:avLst/>
          </a:prstGeom>
          <a:noFill/>
          <a:ln/>
        </p:spPr>
        <p:txBody>
          <a:bodyPr wrap="square" lIns="0" tIns="0" rIns="0" bIns="0" rtlCol="0" anchor="ctr"/>
          <a:lstStyle/>
          <a:p>
            <a:pPr marL="0" indent="0" algn="r">
              <a:buNone/>
            </a:pPr>
            <a:r>
              <a:rPr lang="en-US" sz="900" dirty="0">
                <a:solidFill>
                  <a:srgbClr val="4B5563"/>
                </a:solidFill>
                <a:latin typeface="Calibri" pitchFamily="34" charset="0"/>
                <a:ea typeface="Calibri" pitchFamily="34" charset="-122"/>
                <a:cs typeface="Calibri"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CF8"/>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400" dirty="0">
                <a:solidFill>
                  <a:srgbClr val="B8924A"/>
                </a:solidFill>
                <a:latin typeface="Calibri" pitchFamily="34" charset="0"/>
                <a:ea typeface="Calibri" pitchFamily="34" charset="-122"/>
                <a:cs typeface="Calibri" pitchFamily="34" charset="-120"/>
              </a:rPr>
              <a:t>USE CASE  ·  SEC FILINGS</a:t>
            </a:r>
            <a:endParaRPr lang="en-US" sz="1200" dirty="0"/>
          </a:p>
        </p:txBody>
      </p:sp>
      <p:sp>
        <p:nvSpPr>
          <p:cNvPr id="3" name="Text 1"/>
          <p:cNvSpPr/>
          <p:nvPr/>
        </p:nvSpPr>
        <p:spPr>
          <a:xfrm>
            <a:off x="548640" y="777240"/>
            <a:ext cx="8046720" cy="868680"/>
          </a:xfrm>
          <a:prstGeom prst="rect">
            <a:avLst/>
          </a:prstGeom>
          <a:noFill/>
          <a:ln/>
        </p:spPr>
        <p:txBody>
          <a:bodyPr wrap="square" lIns="0" tIns="0" rIns="0" bIns="0" rtlCol="0" anchor="ctr"/>
          <a:lstStyle/>
          <a:p>
            <a:pPr marL="0" indent="0">
              <a:buNone/>
            </a:pPr>
            <a:r>
              <a:rPr lang="en-US" sz="2600" dirty="0">
                <a:solidFill>
                  <a:srgbClr val="1A1A1A"/>
                </a:solidFill>
                <a:latin typeface="Georgia" pitchFamily="34" charset="0"/>
                <a:ea typeface="Georgia" pitchFamily="34" charset="-122"/>
                <a:cs typeface="Georgia" pitchFamily="34" charset="-120"/>
              </a:rPr>
              <a:t>Five thousand filers in.</a:t>
            </a:r>
            <a:endParaRPr lang="en-US" sz="2600" dirty="0"/>
          </a:p>
          <a:p>
            <a:pPr marL="0" indent="0">
              <a:buNone/>
            </a:pPr>
            <a:r>
              <a:rPr lang="en-US" sz="2600" i="1" dirty="0">
                <a:solidFill>
                  <a:srgbClr val="B8924A"/>
                </a:solidFill>
                <a:latin typeface="Georgia" pitchFamily="34" charset="0"/>
                <a:ea typeface="Georgia" pitchFamily="34" charset="-122"/>
                <a:cs typeface="Georgia" pitchFamily="34" charset="-120"/>
              </a:rPr>
              <a:t>One stood out.</a:t>
            </a:r>
            <a:endParaRPr lang="en-US" sz="2600" dirty="0"/>
          </a:p>
        </p:txBody>
      </p:sp>
      <p:sp>
        <p:nvSpPr>
          <p:cNvPr id="4" name="Shape 2"/>
          <p:cNvSpPr/>
          <p:nvPr/>
        </p:nvSpPr>
        <p:spPr>
          <a:xfrm>
            <a:off x="1097280" y="1783080"/>
            <a:ext cx="6949440" cy="1143000"/>
          </a:xfrm>
          <a:prstGeom prst="rect">
            <a:avLst/>
          </a:prstGeom>
          <a:solidFill>
            <a:srgbClr val="FFFFFF"/>
          </a:solidFill>
          <a:ln w="6350">
            <a:solidFill>
              <a:srgbClr val="D1D5DB"/>
            </a:solidFill>
            <a:prstDash val="solid"/>
          </a:ln>
        </p:spPr>
        <p:txBody>
          <a:bodyPr/>
          <a:lstStyle/>
          <a:p>
            <a:endParaRPr lang="en-AE"/>
          </a:p>
        </p:txBody>
      </p:sp>
      <p:sp>
        <p:nvSpPr>
          <p:cNvPr id="5" name="Shape 3"/>
          <p:cNvSpPr/>
          <p:nvPr/>
        </p:nvSpPr>
        <p:spPr>
          <a:xfrm>
            <a:off x="1097280" y="1783080"/>
            <a:ext cx="54864" cy="1143000"/>
          </a:xfrm>
          <a:prstGeom prst="rect">
            <a:avLst/>
          </a:prstGeom>
          <a:solidFill>
            <a:srgbClr val="B8924A"/>
          </a:solidFill>
          <a:ln/>
        </p:spPr>
        <p:txBody>
          <a:bodyPr/>
          <a:lstStyle/>
          <a:p>
            <a:endParaRPr lang="en-AE"/>
          </a:p>
        </p:txBody>
      </p:sp>
      <p:sp>
        <p:nvSpPr>
          <p:cNvPr id="6" name="Text 4"/>
          <p:cNvSpPr/>
          <p:nvPr/>
        </p:nvSpPr>
        <p:spPr>
          <a:xfrm>
            <a:off x="1417320" y="1920240"/>
            <a:ext cx="6309360" cy="201168"/>
          </a:xfrm>
          <a:prstGeom prst="rect">
            <a:avLst/>
          </a:prstGeom>
          <a:noFill/>
          <a:ln/>
        </p:spPr>
        <p:txBody>
          <a:bodyPr wrap="square" lIns="0" tIns="0" rIns="0" bIns="0" rtlCol="0" anchor="ctr"/>
          <a:lstStyle/>
          <a:p>
            <a:pPr marL="0" indent="0">
              <a:buNone/>
            </a:pPr>
            <a:r>
              <a:rPr lang="en-US" sz="1000" b="1" kern="0" spc="400" dirty="0">
                <a:solidFill>
                  <a:srgbClr val="B8924A"/>
                </a:solidFill>
                <a:latin typeface="Calibri" pitchFamily="34" charset="0"/>
                <a:ea typeface="Calibri" pitchFamily="34" charset="-122"/>
                <a:cs typeface="Calibri" pitchFamily="34" charset="-120"/>
              </a:rPr>
              <a:t>TOP-1 OUT OF 4,999 PUBLIC FILERS</a:t>
            </a:r>
            <a:endParaRPr lang="en-US" sz="1000" dirty="0"/>
          </a:p>
        </p:txBody>
      </p:sp>
      <p:sp>
        <p:nvSpPr>
          <p:cNvPr id="7" name="Text 5"/>
          <p:cNvSpPr/>
          <p:nvPr/>
        </p:nvSpPr>
        <p:spPr>
          <a:xfrm>
            <a:off x="1417320" y="2148840"/>
            <a:ext cx="6309360" cy="411480"/>
          </a:xfrm>
          <a:prstGeom prst="rect">
            <a:avLst/>
          </a:prstGeom>
          <a:noFill/>
          <a:ln/>
        </p:spPr>
        <p:txBody>
          <a:bodyPr wrap="square" lIns="0" tIns="0" rIns="0" bIns="0" rtlCol="0" anchor="ctr"/>
          <a:lstStyle/>
          <a:p>
            <a:pPr marL="0" indent="0">
              <a:buNone/>
            </a:pPr>
            <a:r>
              <a:rPr lang="en-US" sz="2400" b="1" dirty="0">
                <a:solidFill>
                  <a:srgbClr val="1E3A5F"/>
                </a:solidFill>
                <a:latin typeface="Georgia" pitchFamily="34" charset="0"/>
                <a:ea typeface="Georgia" pitchFamily="34" charset="-122"/>
                <a:cs typeface="Georgia" pitchFamily="34" charset="-120"/>
              </a:rPr>
              <a:t>American Electric Power</a:t>
            </a:r>
            <a:endParaRPr lang="en-US" sz="2400" dirty="0"/>
          </a:p>
        </p:txBody>
      </p:sp>
      <p:sp>
        <p:nvSpPr>
          <p:cNvPr id="8" name="Text 6"/>
          <p:cNvSpPr/>
          <p:nvPr/>
        </p:nvSpPr>
        <p:spPr>
          <a:xfrm>
            <a:off x="1417320" y="2560320"/>
            <a:ext cx="6309360" cy="292608"/>
          </a:xfrm>
          <a:prstGeom prst="rect">
            <a:avLst/>
          </a:prstGeom>
          <a:noFill/>
          <a:ln/>
        </p:spPr>
        <p:txBody>
          <a:bodyPr wrap="square" lIns="0" tIns="0" rIns="0" bIns="0" rtlCol="0" anchor="ctr"/>
          <a:lstStyle/>
          <a:p>
            <a:pPr marL="0" indent="0">
              <a:buNone/>
            </a:pPr>
            <a:r>
              <a:rPr lang="en-US" sz="1400" i="1" dirty="0">
                <a:solidFill>
                  <a:srgbClr val="1A1A1A"/>
                </a:solidFill>
                <a:latin typeface="Georgia" pitchFamily="34" charset="0"/>
                <a:ea typeface="Georgia" pitchFamily="34" charset="-122"/>
                <a:cs typeface="Georgia" pitchFamily="34" charset="-120"/>
              </a:rPr>
              <a:t>Asset Retirement Obligation</a:t>
            </a:r>
            <a:endParaRPr lang="en-US" sz="1400" dirty="0"/>
          </a:p>
        </p:txBody>
      </p:sp>
      <p:sp>
        <p:nvSpPr>
          <p:cNvPr id="9" name="Text 7"/>
          <p:cNvSpPr/>
          <p:nvPr/>
        </p:nvSpPr>
        <p:spPr>
          <a:xfrm>
            <a:off x="548640" y="3063240"/>
            <a:ext cx="8046720" cy="228600"/>
          </a:xfrm>
          <a:prstGeom prst="rect">
            <a:avLst/>
          </a:prstGeom>
          <a:noFill/>
          <a:ln/>
        </p:spPr>
        <p:txBody>
          <a:bodyPr wrap="square" lIns="0" tIns="0" rIns="0" bIns="0" rtlCol="0" anchor="ctr"/>
          <a:lstStyle/>
          <a:p>
            <a:pPr marL="0" indent="0">
              <a:buNone/>
            </a:pPr>
            <a:r>
              <a:rPr lang="en-US" sz="1000" b="1" kern="0" spc="300" dirty="0">
                <a:solidFill>
                  <a:srgbClr val="4B5563"/>
                </a:solidFill>
                <a:latin typeface="Calibri" pitchFamily="34" charset="0"/>
                <a:ea typeface="Calibri" pitchFamily="34" charset="-122"/>
                <a:cs typeface="Calibri" pitchFamily="34" charset="-120"/>
              </a:rPr>
              <a:t>INDEPENDENTLY VERIFIED  ·  THREE SOURCES</a:t>
            </a:r>
            <a:endParaRPr lang="en-US" sz="1000" dirty="0"/>
          </a:p>
        </p:txBody>
      </p:sp>
      <p:sp>
        <p:nvSpPr>
          <p:cNvPr id="10" name="Shape 8"/>
          <p:cNvSpPr/>
          <p:nvPr/>
        </p:nvSpPr>
        <p:spPr>
          <a:xfrm>
            <a:off x="548640" y="3337560"/>
            <a:ext cx="2468880" cy="1417320"/>
          </a:xfrm>
          <a:prstGeom prst="rect">
            <a:avLst/>
          </a:prstGeom>
          <a:solidFill>
            <a:srgbClr val="FFFFFF"/>
          </a:solidFill>
          <a:ln w="6350">
            <a:solidFill>
              <a:srgbClr val="D1D5DB"/>
            </a:solidFill>
            <a:prstDash val="solid"/>
          </a:ln>
        </p:spPr>
        <p:txBody>
          <a:bodyPr/>
          <a:lstStyle/>
          <a:p>
            <a:endParaRPr lang="en-AE"/>
          </a:p>
        </p:txBody>
      </p:sp>
      <p:sp>
        <p:nvSpPr>
          <p:cNvPr id="11" name="Shape 9"/>
          <p:cNvSpPr/>
          <p:nvPr/>
        </p:nvSpPr>
        <p:spPr>
          <a:xfrm>
            <a:off x="548640" y="3337560"/>
            <a:ext cx="2468880" cy="502920"/>
          </a:xfrm>
          <a:prstGeom prst="rect">
            <a:avLst/>
          </a:prstGeom>
          <a:solidFill>
            <a:srgbClr val="1E3A5F"/>
          </a:solidFill>
          <a:ln/>
        </p:spPr>
        <p:txBody>
          <a:bodyPr/>
          <a:lstStyle/>
          <a:p>
            <a:endParaRPr lang="en-AE"/>
          </a:p>
        </p:txBody>
      </p:sp>
      <p:sp>
        <p:nvSpPr>
          <p:cNvPr id="12" name="Text 10"/>
          <p:cNvSpPr/>
          <p:nvPr/>
        </p:nvSpPr>
        <p:spPr>
          <a:xfrm>
            <a:off x="548640" y="3337560"/>
            <a:ext cx="2468880" cy="502920"/>
          </a:xfrm>
          <a:prstGeom prst="rect">
            <a:avLst/>
          </a:prstGeom>
          <a:noFill/>
          <a:ln/>
        </p:spPr>
        <p:txBody>
          <a:bodyPr wrap="square" lIns="0" tIns="0" rIns="0" bIns="0" rtlCol="0" anchor="ctr"/>
          <a:lstStyle/>
          <a:p>
            <a:pPr marL="0" indent="0" algn="ctr">
              <a:buNone/>
            </a:pPr>
            <a:r>
              <a:rPr lang="en-US" sz="1400" b="1" u="sng" kern="0" spc="300" dirty="0">
                <a:solidFill>
                  <a:srgbClr val="B8924A"/>
                </a:solidFill>
                <a:latin typeface="Georgia" pitchFamily="34" charset="0"/>
                <a:ea typeface="Georgia" pitchFamily="34" charset="-122"/>
                <a:cs typeface="Georgia" pitchFamily="34" charset="-120"/>
                <a:hlinkClick r:id="rId3">
                  <a:extLst>
                    <a:ext uri="{A12FA001-AC4F-418D-AE19-62706E023703}">
                      <ahyp:hlinkClr xmlns:ahyp="http://schemas.microsoft.com/office/drawing/2018/hyperlinkcolor" val="tx"/>
                    </a:ext>
                  </a:extLst>
                </a:hlinkClick>
              </a:rPr>
              <a:t>DELOITTE</a:t>
            </a:r>
            <a:endParaRPr lang="en-US" sz="1400" dirty="0"/>
          </a:p>
        </p:txBody>
      </p:sp>
      <p:sp>
        <p:nvSpPr>
          <p:cNvPr id="13" name="Text 11"/>
          <p:cNvSpPr/>
          <p:nvPr/>
        </p:nvSpPr>
        <p:spPr>
          <a:xfrm>
            <a:off x="685800" y="3886200"/>
            <a:ext cx="2194560" cy="201168"/>
          </a:xfrm>
          <a:prstGeom prst="rect">
            <a:avLst/>
          </a:prstGeom>
          <a:noFill/>
          <a:ln/>
        </p:spPr>
        <p:txBody>
          <a:bodyPr wrap="square" lIns="0" tIns="0" rIns="0" bIns="0" rtlCol="0" anchor="ctr"/>
          <a:lstStyle/>
          <a:p>
            <a:pPr marL="0" indent="0" algn="ctr">
              <a:buNone/>
            </a:pPr>
            <a:r>
              <a:rPr lang="en-US" sz="800" b="1" kern="0" spc="200" dirty="0">
                <a:solidFill>
                  <a:srgbClr val="4B5563"/>
                </a:solidFill>
                <a:latin typeface="Calibri" pitchFamily="34" charset="0"/>
                <a:ea typeface="Calibri" pitchFamily="34" charset="-122"/>
                <a:cs typeface="Calibri" pitchFamily="34" charset="-120"/>
              </a:rPr>
              <a:t>On the Radar  ·  Jul 2025</a:t>
            </a:r>
            <a:endParaRPr lang="en-US" sz="800" dirty="0"/>
          </a:p>
        </p:txBody>
      </p:sp>
      <p:sp>
        <p:nvSpPr>
          <p:cNvPr id="14" name="Text 12"/>
          <p:cNvSpPr/>
          <p:nvPr/>
        </p:nvSpPr>
        <p:spPr>
          <a:xfrm>
            <a:off x="713232" y="4114800"/>
            <a:ext cx="2139696" cy="548640"/>
          </a:xfrm>
          <a:prstGeom prst="rect">
            <a:avLst/>
          </a:prstGeom>
          <a:noFill/>
          <a:ln/>
        </p:spPr>
        <p:txBody>
          <a:bodyPr wrap="square" lIns="0" tIns="0" rIns="0" bIns="0" rtlCol="0" anchor="t"/>
          <a:lstStyle/>
          <a:p>
            <a:pPr marL="0" indent="0" algn="l">
              <a:buNone/>
            </a:pPr>
            <a:r>
              <a:rPr lang="en-US" sz="1000" i="1" dirty="0">
                <a:solidFill>
                  <a:srgbClr val="1A1A1A"/>
                </a:solidFill>
                <a:latin typeface="Calibri" pitchFamily="34" charset="0"/>
                <a:ea typeface="Calibri" pitchFamily="34" charset="-122"/>
                <a:cs typeface="Calibri" pitchFamily="34" charset="-120"/>
              </a:rPr>
              <a:t>Asset retirement obligations require “significant management estimates” and rank among the highest-scrutiny disclosures.</a:t>
            </a:r>
            <a:endParaRPr lang="en-US" sz="1000" dirty="0"/>
          </a:p>
        </p:txBody>
      </p:sp>
      <p:sp>
        <p:nvSpPr>
          <p:cNvPr id="15" name="Shape 13"/>
          <p:cNvSpPr/>
          <p:nvPr/>
        </p:nvSpPr>
        <p:spPr>
          <a:xfrm>
            <a:off x="3337560" y="3337560"/>
            <a:ext cx="2468880" cy="1417320"/>
          </a:xfrm>
          <a:prstGeom prst="rect">
            <a:avLst/>
          </a:prstGeom>
          <a:solidFill>
            <a:srgbClr val="FFFFFF"/>
          </a:solidFill>
          <a:ln w="6350">
            <a:solidFill>
              <a:srgbClr val="D1D5DB"/>
            </a:solidFill>
            <a:prstDash val="solid"/>
          </a:ln>
        </p:spPr>
        <p:txBody>
          <a:bodyPr/>
          <a:lstStyle/>
          <a:p>
            <a:endParaRPr lang="en-AE"/>
          </a:p>
        </p:txBody>
      </p:sp>
      <p:sp>
        <p:nvSpPr>
          <p:cNvPr id="16" name="Shape 14"/>
          <p:cNvSpPr/>
          <p:nvPr/>
        </p:nvSpPr>
        <p:spPr>
          <a:xfrm>
            <a:off x="3337560" y="3337560"/>
            <a:ext cx="2468880" cy="502920"/>
          </a:xfrm>
          <a:prstGeom prst="rect">
            <a:avLst/>
          </a:prstGeom>
          <a:solidFill>
            <a:srgbClr val="1E3A5F"/>
          </a:solidFill>
          <a:ln/>
        </p:spPr>
        <p:txBody>
          <a:bodyPr/>
          <a:lstStyle/>
          <a:p>
            <a:endParaRPr lang="en-AE"/>
          </a:p>
        </p:txBody>
      </p:sp>
      <p:sp>
        <p:nvSpPr>
          <p:cNvPr id="17" name="Text 15"/>
          <p:cNvSpPr/>
          <p:nvPr/>
        </p:nvSpPr>
        <p:spPr>
          <a:xfrm>
            <a:off x="3337560" y="3337560"/>
            <a:ext cx="2468880" cy="502920"/>
          </a:xfrm>
          <a:prstGeom prst="rect">
            <a:avLst/>
          </a:prstGeom>
          <a:noFill/>
          <a:ln/>
        </p:spPr>
        <p:txBody>
          <a:bodyPr wrap="square" lIns="0" tIns="0" rIns="0" bIns="0" rtlCol="0" anchor="ctr"/>
          <a:lstStyle/>
          <a:p>
            <a:pPr marL="0" indent="0" algn="ctr">
              <a:buNone/>
            </a:pPr>
            <a:r>
              <a:rPr lang="en-US" sz="1400" b="1" u="sng" kern="0" spc="300" dirty="0">
                <a:solidFill>
                  <a:srgbClr val="B8924A"/>
                </a:solidFill>
                <a:latin typeface="Georgia" pitchFamily="34" charset="0"/>
                <a:ea typeface="Georgia" pitchFamily="34" charset="-122"/>
                <a:cs typeface="Georgia" pitchFamily="34" charset="-120"/>
                <a:hlinkClick r:id="rId4">
                  <a:extLst>
                    <a:ext uri="{A12FA001-AC4F-418D-AE19-62706E023703}">
                      <ahyp:hlinkClr xmlns:ahyp="http://schemas.microsoft.com/office/drawing/2018/hyperlinkcolor" val="tx"/>
                    </a:ext>
                  </a:extLst>
                </a:hlinkClick>
              </a:rPr>
              <a:t>EY</a:t>
            </a:r>
            <a:endParaRPr lang="en-US" sz="1400" dirty="0"/>
          </a:p>
        </p:txBody>
      </p:sp>
      <p:sp>
        <p:nvSpPr>
          <p:cNvPr id="18" name="Text 16"/>
          <p:cNvSpPr/>
          <p:nvPr/>
        </p:nvSpPr>
        <p:spPr>
          <a:xfrm>
            <a:off x="3474720" y="3886200"/>
            <a:ext cx="2194560" cy="201168"/>
          </a:xfrm>
          <a:prstGeom prst="rect">
            <a:avLst/>
          </a:prstGeom>
          <a:noFill/>
          <a:ln/>
        </p:spPr>
        <p:txBody>
          <a:bodyPr wrap="square" lIns="0" tIns="0" rIns="0" bIns="0" rtlCol="0" anchor="ctr"/>
          <a:lstStyle/>
          <a:p>
            <a:pPr marL="0" indent="0" algn="ctr">
              <a:buNone/>
            </a:pPr>
            <a:r>
              <a:rPr lang="en-US" sz="800" b="1" kern="0" spc="200" dirty="0">
                <a:solidFill>
                  <a:srgbClr val="4B5563"/>
                </a:solidFill>
                <a:latin typeface="Calibri" pitchFamily="34" charset="0"/>
                <a:ea typeface="Calibri" pitchFamily="34" charset="-122"/>
                <a:cs typeface="Calibri" pitchFamily="34" charset="-120"/>
              </a:rPr>
              <a:t>2025 SEC Comment Letter Trends</a:t>
            </a:r>
            <a:endParaRPr lang="en-US" sz="800" dirty="0"/>
          </a:p>
        </p:txBody>
      </p:sp>
      <p:sp>
        <p:nvSpPr>
          <p:cNvPr id="19" name="Text 17"/>
          <p:cNvSpPr/>
          <p:nvPr/>
        </p:nvSpPr>
        <p:spPr>
          <a:xfrm>
            <a:off x="3502152" y="4114800"/>
            <a:ext cx="2139696" cy="548640"/>
          </a:xfrm>
          <a:prstGeom prst="rect">
            <a:avLst/>
          </a:prstGeom>
          <a:noFill/>
          <a:ln/>
        </p:spPr>
        <p:txBody>
          <a:bodyPr wrap="square" lIns="0" tIns="0" rIns="0" bIns="0" rtlCol="0" anchor="t"/>
          <a:lstStyle/>
          <a:p>
            <a:pPr marL="0" indent="0" algn="l">
              <a:buNone/>
            </a:pPr>
            <a:r>
              <a:rPr lang="en-US" sz="1000" i="1" dirty="0">
                <a:solidFill>
                  <a:srgbClr val="1A1A1A"/>
                </a:solidFill>
                <a:latin typeface="Calibri" pitchFamily="34" charset="0"/>
                <a:ea typeface="Calibri" pitchFamily="34" charset="-122"/>
                <a:cs typeface="Calibri" pitchFamily="34" charset="-120"/>
              </a:rPr>
              <a:t>AROs remain a recurring topic in SEC staff reviews of utility 10-Ks.</a:t>
            </a:r>
            <a:endParaRPr lang="en-US" sz="1000" dirty="0"/>
          </a:p>
        </p:txBody>
      </p:sp>
      <p:sp>
        <p:nvSpPr>
          <p:cNvPr id="20" name="Shape 18"/>
          <p:cNvSpPr/>
          <p:nvPr/>
        </p:nvSpPr>
        <p:spPr>
          <a:xfrm>
            <a:off x="6126480" y="3337560"/>
            <a:ext cx="2468880" cy="1417320"/>
          </a:xfrm>
          <a:prstGeom prst="rect">
            <a:avLst/>
          </a:prstGeom>
          <a:solidFill>
            <a:srgbClr val="FFFFFF"/>
          </a:solidFill>
          <a:ln w="6350">
            <a:solidFill>
              <a:srgbClr val="D1D5DB"/>
            </a:solidFill>
            <a:prstDash val="solid"/>
          </a:ln>
        </p:spPr>
        <p:txBody>
          <a:bodyPr/>
          <a:lstStyle/>
          <a:p>
            <a:endParaRPr lang="en-AE"/>
          </a:p>
        </p:txBody>
      </p:sp>
      <p:sp>
        <p:nvSpPr>
          <p:cNvPr id="21" name="Shape 19"/>
          <p:cNvSpPr/>
          <p:nvPr/>
        </p:nvSpPr>
        <p:spPr>
          <a:xfrm>
            <a:off x="6126480" y="3337560"/>
            <a:ext cx="2468880" cy="502920"/>
          </a:xfrm>
          <a:prstGeom prst="rect">
            <a:avLst/>
          </a:prstGeom>
          <a:solidFill>
            <a:srgbClr val="1E3A5F"/>
          </a:solidFill>
          <a:ln/>
        </p:spPr>
        <p:txBody>
          <a:bodyPr/>
          <a:lstStyle/>
          <a:p>
            <a:endParaRPr lang="en-AE"/>
          </a:p>
        </p:txBody>
      </p:sp>
      <p:sp>
        <p:nvSpPr>
          <p:cNvPr id="22" name="Text 20"/>
          <p:cNvSpPr/>
          <p:nvPr/>
        </p:nvSpPr>
        <p:spPr>
          <a:xfrm>
            <a:off x="6126480" y="3337560"/>
            <a:ext cx="2468880" cy="502920"/>
          </a:xfrm>
          <a:prstGeom prst="rect">
            <a:avLst/>
          </a:prstGeom>
          <a:noFill/>
          <a:ln/>
        </p:spPr>
        <p:txBody>
          <a:bodyPr wrap="square" lIns="0" tIns="0" rIns="0" bIns="0" rtlCol="0" anchor="ctr"/>
          <a:lstStyle/>
          <a:p>
            <a:pPr marL="0" indent="0" algn="ctr">
              <a:buNone/>
            </a:pPr>
            <a:r>
              <a:rPr lang="en-US" sz="1400" b="1" u="sng" kern="0" spc="300" dirty="0">
                <a:solidFill>
                  <a:srgbClr val="B8924A"/>
                </a:solidFill>
                <a:latin typeface="Georgia" pitchFamily="34" charset="0"/>
                <a:ea typeface="Georgia" pitchFamily="34" charset="-122"/>
                <a:cs typeface="Georgia" pitchFamily="34" charset="-120"/>
                <a:hlinkClick r:id="rId5">
                  <a:extLst>
                    <a:ext uri="{A12FA001-AC4F-418D-AE19-62706E023703}">
                      <ahyp:hlinkClr xmlns:ahyp="http://schemas.microsoft.com/office/drawing/2018/hyperlinkcolor" val="tx"/>
                    </a:ext>
                  </a:extLst>
                </a:hlinkClick>
              </a:rPr>
              <a:t>AEP 10-K</a:t>
            </a:r>
            <a:endParaRPr lang="en-US" sz="1400" dirty="0"/>
          </a:p>
        </p:txBody>
      </p:sp>
      <p:sp>
        <p:nvSpPr>
          <p:cNvPr id="23" name="Text 21"/>
          <p:cNvSpPr/>
          <p:nvPr/>
        </p:nvSpPr>
        <p:spPr>
          <a:xfrm>
            <a:off x="6263640" y="3886200"/>
            <a:ext cx="2194560" cy="201168"/>
          </a:xfrm>
          <a:prstGeom prst="rect">
            <a:avLst/>
          </a:prstGeom>
          <a:noFill/>
          <a:ln/>
        </p:spPr>
        <p:txBody>
          <a:bodyPr wrap="square" lIns="0" tIns="0" rIns="0" bIns="0" rtlCol="0" anchor="ctr"/>
          <a:lstStyle/>
          <a:p>
            <a:pPr marL="0" indent="0" algn="ctr">
              <a:buNone/>
            </a:pPr>
            <a:r>
              <a:rPr lang="en-US" sz="800" b="1" kern="0" spc="200" dirty="0">
                <a:solidFill>
                  <a:srgbClr val="4B5563"/>
                </a:solidFill>
                <a:latin typeface="Calibri" pitchFamily="34" charset="0"/>
                <a:ea typeface="Calibri" pitchFamily="34" charset="-122"/>
                <a:cs typeface="Calibri" pitchFamily="34" charset="-120"/>
              </a:rPr>
              <a:t>Annual Report  ·  FY 2023</a:t>
            </a:r>
            <a:endParaRPr lang="en-US" sz="800" dirty="0"/>
          </a:p>
        </p:txBody>
      </p:sp>
      <p:sp>
        <p:nvSpPr>
          <p:cNvPr id="24" name="Text 22"/>
          <p:cNvSpPr/>
          <p:nvPr/>
        </p:nvSpPr>
        <p:spPr>
          <a:xfrm>
            <a:off x="6291072" y="4114800"/>
            <a:ext cx="2139696" cy="548640"/>
          </a:xfrm>
          <a:prstGeom prst="rect">
            <a:avLst/>
          </a:prstGeom>
          <a:noFill/>
          <a:ln/>
        </p:spPr>
        <p:txBody>
          <a:bodyPr wrap="square" lIns="0" tIns="0" rIns="0" bIns="0" rtlCol="0" anchor="t"/>
          <a:lstStyle/>
          <a:p>
            <a:pPr marL="0" indent="0" algn="l">
              <a:buNone/>
            </a:pPr>
            <a:r>
              <a:rPr lang="en-US" sz="1000" i="1" dirty="0">
                <a:solidFill>
                  <a:srgbClr val="1A1A1A"/>
                </a:solidFill>
                <a:latin typeface="Calibri" pitchFamily="34" charset="0"/>
                <a:ea typeface="Calibri" pitchFamily="34" charset="-122"/>
                <a:cs typeface="Calibri" pitchFamily="34" charset="-120"/>
              </a:rPr>
              <a:t>Cook nuclear decommissioning ARO of $2.4B, plus material coal-ash retirement liabilities.</a:t>
            </a:r>
            <a:endParaRPr lang="en-US" sz="1000" dirty="0"/>
          </a:p>
        </p:txBody>
      </p:sp>
      <p:sp>
        <p:nvSpPr>
          <p:cNvPr id="25" name="Text 23"/>
          <p:cNvSpPr/>
          <p:nvPr/>
        </p:nvSpPr>
        <p:spPr>
          <a:xfrm>
            <a:off x="548640" y="4800600"/>
            <a:ext cx="3657600" cy="228600"/>
          </a:xfrm>
          <a:prstGeom prst="rect">
            <a:avLst/>
          </a:prstGeom>
          <a:noFill/>
          <a:ln/>
        </p:spPr>
        <p:txBody>
          <a:bodyPr wrap="square" lIns="0" tIns="0" rIns="0" bIns="0" rtlCol="0" anchor="ctr"/>
          <a:lstStyle/>
          <a:p>
            <a:pPr marL="0" indent="0">
              <a:buNone/>
            </a:pPr>
            <a:r>
              <a:rPr lang="en-US" sz="900" kern="0" spc="200" dirty="0">
                <a:solidFill>
                  <a:srgbClr val="4B5563"/>
                </a:solidFill>
                <a:latin typeface="Calibri" pitchFamily="34" charset="0"/>
                <a:ea typeface="Calibri" pitchFamily="34" charset="-122"/>
                <a:cs typeface="Calibri" pitchFamily="34" charset="-120"/>
              </a:rPr>
              <a:t>LATENT OCEAN</a:t>
            </a:r>
            <a:endParaRPr lang="en-US" sz="900" dirty="0"/>
          </a:p>
        </p:txBody>
      </p:sp>
      <p:sp>
        <p:nvSpPr>
          <p:cNvPr id="26" name="Text 24"/>
          <p:cNvSpPr/>
          <p:nvPr/>
        </p:nvSpPr>
        <p:spPr>
          <a:xfrm>
            <a:off x="7680960" y="4800600"/>
            <a:ext cx="914400" cy="228600"/>
          </a:xfrm>
          <a:prstGeom prst="rect">
            <a:avLst/>
          </a:prstGeom>
          <a:noFill/>
          <a:ln/>
        </p:spPr>
        <p:txBody>
          <a:bodyPr wrap="square" lIns="0" tIns="0" rIns="0" bIns="0" rtlCol="0" anchor="ctr"/>
          <a:lstStyle/>
          <a:p>
            <a:pPr marL="0" indent="0" algn="r">
              <a:buNone/>
            </a:pPr>
            <a:r>
              <a:rPr lang="en-US" sz="900" dirty="0">
                <a:solidFill>
                  <a:srgbClr val="4B5563"/>
                </a:solidFill>
                <a:latin typeface="Calibri" pitchFamily="34" charset="0"/>
                <a:ea typeface="Calibri" pitchFamily="34" charset="-122"/>
                <a:cs typeface="Calibri"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CF8"/>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400" dirty="0">
                <a:solidFill>
                  <a:srgbClr val="B8924A"/>
                </a:solidFill>
                <a:latin typeface="Calibri" pitchFamily="34" charset="0"/>
                <a:ea typeface="Calibri" pitchFamily="34" charset="-122"/>
                <a:cs typeface="Calibri" pitchFamily="34" charset="-120"/>
              </a:rPr>
              <a:t>WHAT MAKES IT DIFFERENT</a:t>
            </a:r>
            <a:endParaRPr lang="en-US" sz="1200" dirty="0"/>
          </a:p>
        </p:txBody>
      </p:sp>
      <p:sp>
        <p:nvSpPr>
          <p:cNvPr id="3" name="Text 1"/>
          <p:cNvSpPr/>
          <p:nvPr/>
        </p:nvSpPr>
        <p:spPr>
          <a:xfrm>
            <a:off x="548640" y="868680"/>
            <a:ext cx="8046720" cy="914400"/>
          </a:xfrm>
          <a:prstGeom prst="rect">
            <a:avLst/>
          </a:prstGeom>
          <a:noFill/>
          <a:ln/>
        </p:spPr>
        <p:txBody>
          <a:bodyPr wrap="square" lIns="0" tIns="0" rIns="0" bIns="0" rtlCol="0" anchor="ctr"/>
          <a:lstStyle/>
          <a:p>
            <a:pPr marL="0" indent="0" algn="l">
              <a:buNone/>
            </a:pPr>
            <a:r>
              <a:rPr lang="en-US" sz="2400" dirty="0">
                <a:solidFill>
                  <a:srgbClr val="1A1A1A"/>
                </a:solidFill>
                <a:latin typeface="Georgia" pitchFamily="34" charset="0"/>
                <a:ea typeface="Georgia" pitchFamily="34" charset="-122"/>
                <a:cs typeface="Georgia" pitchFamily="34" charset="-120"/>
              </a:rPr>
              <a:t>Most data systems are designed by hand. Latent Ocean grows on its own with no setup needed.</a:t>
            </a:r>
            <a:endParaRPr lang="en-US" sz="2400" dirty="0"/>
          </a:p>
        </p:txBody>
      </p:sp>
      <p:sp>
        <p:nvSpPr>
          <p:cNvPr id="4" name="Shape 2"/>
          <p:cNvSpPr/>
          <p:nvPr/>
        </p:nvSpPr>
        <p:spPr>
          <a:xfrm>
            <a:off x="548640" y="2011680"/>
            <a:ext cx="3840480" cy="2468880"/>
          </a:xfrm>
          <a:prstGeom prst="rect">
            <a:avLst/>
          </a:prstGeom>
          <a:solidFill>
            <a:srgbClr val="F4F2EC"/>
          </a:solidFill>
          <a:ln w="6350">
            <a:solidFill>
              <a:srgbClr val="D1D5DB"/>
            </a:solidFill>
            <a:prstDash val="solid"/>
          </a:ln>
        </p:spPr>
        <p:txBody>
          <a:bodyPr/>
          <a:lstStyle/>
          <a:p>
            <a:endParaRPr lang="en-AE"/>
          </a:p>
        </p:txBody>
      </p:sp>
      <p:sp>
        <p:nvSpPr>
          <p:cNvPr id="5" name="Text 3"/>
          <p:cNvSpPr/>
          <p:nvPr/>
        </p:nvSpPr>
        <p:spPr>
          <a:xfrm>
            <a:off x="822960" y="2194560"/>
            <a:ext cx="3291840" cy="365760"/>
          </a:xfrm>
          <a:prstGeom prst="rect">
            <a:avLst/>
          </a:prstGeom>
          <a:noFill/>
          <a:ln/>
        </p:spPr>
        <p:txBody>
          <a:bodyPr wrap="square" lIns="0" tIns="0" rIns="0" bIns="0" rtlCol="0" anchor="ctr"/>
          <a:lstStyle/>
          <a:p>
            <a:pPr marL="0" indent="0">
              <a:buNone/>
            </a:pPr>
            <a:r>
              <a:rPr lang="en-US" sz="1200" b="1" kern="0" spc="400" dirty="0">
                <a:solidFill>
                  <a:srgbClr val="4B5563"/>
                </a:solidFill>
                <a:latin typeface="Calibri" pitchFamily="34" charset="0"/>
                <a:ea typeface="Calibri" pitchFamily="34" charset="-122"/>
                <a:cs typeface="Calibri" pitchFamily="34" charset="-120"/>
              </a:rPr>
              <a:t>TODAY'S DATA</a:t>
            </a:r>
            <a:endParaRPr lang="en-US" sz="1200" dirty="0"/>
          </a:p>
        </p:txBody>
      </p:sp>
      <p:sp>
        <p:nvSpPr>
          <p:cNvPr id="6" name="Text 4"/>
          <p:cNvSpPr/>
          <p:nvPr/>
        </p:nvSpPr>
        <p:spPr>
          <a:xfrm>
            <a:off x="822960" y="2651760"/>
            <a:ext cx="3291840" cy="164592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4B5563"/>
                </a:solidFill>
                <a:latin typeface="Calibri" pitchFamily="34" charset="0"/>
                <a:ea typeface="Calibri" pitchFamily="34" charset="-122"/>
                <a:cs typeface="Calibri" pitchFamily="34" charset="-120"/>
              </a:rPr>
              <a:t>Designed once</a:t>
            </a:r>
            <a:endParaRPr lang="en-US" sz="1600" dirty="0"/>
          </a:p>
          <a:p>
            <a:pPr marL="342900" indent="-342900">
              <a:spcAft>
                <a:spcPts val="600"/>
              </a:spcAft>
              <a:buSzPct val="100000"/>
              <a:buChar char="•"/>
            </a:pPr>
            <a:r>
              <a:rPr lang="en-US" sz="1600" dirty="0">
                <a:solidFill>
                  <a:srgbClr val="4B5563"/>
                </a:solidFill>
                <a:latin typeface="Calibri" pitchFamily="34" charset="0"/>
                <a:ea typeface="Calibri" pitchFamily="34" charset="-122"/>
                <a:cs typeface="Calibri" pitchFamily="34" charset="-120"/>
              </a:rPr>
              <a:t>Architecture frozen</a:t>
            </a:r>
            <a:endParaRPr lang="en-US" sz="1600" dirty="0"/>
          </a:p>
          <a:p>
            <a:pPr marL="342900" indent="-342900">
              <a:spcAft>
                <a:spcPts val="600"/>
              </a:spcAft>
              <a:buSzPct val="100000"/>
              <a:buChar char="•"/>
            </a:pPr>
            <a:r>
              <a:rPr lang="en-US" sz="1600" dirty="0">
                <a:solidFill>
                  <a:srgbClr val="4B5563"/>
                </a:solidFill>
                <a:latin typeface="Calibri" pitchFamily="34" charset="0"/>
                <a:ea typeface="Calibri" pitchFamily="34" charset="-122"/>
                <a:cs typeface="Calibri" pitchFamily="34" charset="-120"/>
              </a:rPr>
              <a:t>Domain-specific</a:t>
            </a:r>
            <a:endParaRPr lang="en-US" sz="1600" dirty="0"/>
          </a:p>
          <a:p>
            <a:pPr marL="342900" indent="-342900">
              <a:spcAft>
                <a:spcPts val="600"/>
              </a:spcAft>
              <a:buSzPct val="100000"/>
              <a:buChar char="•"/>
            </a:pPr>
            <a:r>
              <a:rPr lang="en-US" sz="1600" dirty="0">
                <a:solidFill>
                  <a:srgbClr val="4B5563"/>
                </a:solidFill>
                <a:latin typeface="Calibri" pitchFamily="34" charset="0"/>
                <a:ea typeface="Calibri" pitchFamily="34" charset="-122"/>
                <a:cs typeface="Calibri" pitchFamily="34" charset="-120"/>
              </a:rPr>
              <a:t>Brittle to new data</a:t>
            </a:r>
            <a:endParaRPr lang="en-US" sz="1600" dirty="0"/>
          </a:p>
        </p:txBody>
      </p:sp>
      <p:sp>
        <p:nvSpPr>
          <p:cNvPr id="7" name="Shape 5"/>
          <p:cNvSpPr/>
          <p:nvPr/>
        </p:nvSpPr>
        <p:spPr>
          <a:xfrm>
            <a:off x="4754880" y="2011680"/>
            <a:ext cx="3840480" cy="2468880"/>
          </a:xfrm>
          <a:prstGeom prst="rect">
            <a:avLst/>
          </a:prstGeom>
          <a:solidFill>
            <a:srgbClr val="1E3A5F"/>
          </a:solidFill>
          <a:ln/>
        </p:spPr>
        <p:txBody>
          <a:bodyPr/>
          <a:lstStyle/>
          <a:p>
            <a:endParaRPr lang="en-AE"/>
          </a:p>
        </p:txBody>
      </p:sp>
      <p:sp>
        <p:nvSpPr>
          <p:cNvPr id="8" name="Text 6"/>
          <p:cNvSpPr/>
          <p:nvPr/>
        </p:nvSpPr>
        <p:spPr>
          <a:xfrm>
            <a:off x="5029200" y="2194560"/>
            <a:ext cx="3383280" cy="365760"/>
          </a:xfrm>
          <a:prstGeom prst="rect">
            <a:avLst/>
          </a:prstGeom>
          <a:noFill/>
          <a:ln/>
        </p:spPr>
        <p:txBody>
          <a:bodyPr wrap="square" lIns="0" tIns="0" rIns="0" bIns="0" rtlCol="0" anchor="ctr"/>
          <a:lstStyle/>
          <a:p>
            <a:pPr marL="0" indent="0">
              <a:buNone/>
            </a:pPr>
            <a:r>
              <a:rPr lang="en-US" sz="1200" b="1" kern="0" spc="400" dirty="0">
                <a:solidFill>
                  <a:srgbClr val="B8924A"/>
                </a:solidFill>
                <a:latin typeface="Calibri" pitchFamily="34" charset="0"/>
                <a:ea typeface="Calibri" pitchFamily="34" charset="-122"/>
                <a:cs typeface="Calibri" pitchFamily="34" charset="-120"/>
              </a:rPr>
              <a:t>LATENT OCEAN</a:t>
            </a:r>
            <a:endParaRPr lang="en-US" sz="1200" dirty="0"/>
          </a:p>
        </p:txBody>
      </p:sp>
      <p:sp>
        <p:nvSpPr>
          <p:cNvPr id="9" name="Text 7"/>
          <p:cNvSpPr/>
          <p:nvPr/>
        </p:nvSpPr>
        <p:spPr>
          <a:xfrm>
            <a:off x="4956048" y="2651760"/>
            <a:ext cx="3383280" cy="164592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Discovers its own structure</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Reorganizes itself</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Works across domains</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Grows with new data</a:t>
            </a:r>
            <a:endParaRPr lang="en-US" sz="1600" dirty="0"/>
          </a:p>
        </p:txBody>
      </p:sp>
      <p:sp>
        <p:nvSpPr>
          <p:cNvPr id="10" name="Text 8"/>
          <p:cNvSpPr/>
          <p:nvPr/>
        </p:nvSpPr>
        <p:spPr>
          <a:xfrm>
            <a:off x="548640" y="4800600"/>
            <a:ext cx="3657600" cy="228600"/>
          </a:xfrm>
          <a:prstGeom prst="rect">
            <a:avLst/>
          </a:prstGeom>
          <a:noFill/>
          <a:ln/>
        </p:spPr>
        <p:txBody>
          <a:bodyPr wrap="square" lIns="0" tIns="0" rIns="0" bIns="0" rtlCol="0" anchor="ctr"/>
          <a:lstStyle/>
          <a:p>
            <a:pPr marL="0" indent="0">
              <a:buNone/>
            </a:pPr>
            <a:r>
              <a:rPr lang="en-US" sz="900" kern="0" spc="200" dirty="0">
                <a:solidFill>
                  <a:srgbClr val="4B5563"/>
                </a:solidFill>
                <a:latin typeface="Calibri" pitchFamily="34" charset="0"/>
                <a:ea typeface="Calibri" pitchFamily="34" charset="-122"/>
                <a:cs typeface="Calibri" pitchFamily="34" charset="-120"/>
              </a:rPr>
              <a:t>LATENT OCEAN</a:t>
            </a:r>
            <a:endParaRPr lang="en-US" sz="900" dirty="0"/>
          </a:p>
        </p:txBody>
      </p:sp>
      <p:sp>
        <p:nvSpPr>
          <p:cNvPr id="11" name="Text 9"/>
          <p:cNvSpPr/>
          <p:nvPr/>
        </p:nvSpPr>
        <p:spPr>
          <a:xfrm>
            <a:off x="7680960" y="4800600"/>
            <a:ext cx="914400" cy="228600"/>
          </a:xfrm>
          <a:prstGeom prst="rect">
            <a:avLst/>
          </a:prstGeom>
          <a:noFill/>
          <a:ln/>
        </p:spPr>
        <p:txBody>
          <a:bodyPr wrap="square" lIns="0" tIns="0" rIns="0" bIns="0" rtlCol="0" anchor="ctr"/>
          <a:lstStyle/>
          <a:p>
            <a:pPr marL="0" indent="0" algn="r">
              <a:buNone/>
            </a:pPr>
            <a:r>
              <a:rPr lang="en-US" sz="900" dirty="0">
                <a:solidFill>
                  <a:srgbClr val="4B5563"/>
                </a:solidFill>
                <a:latin typeface="Calibri" pitchFamily="34" charset="0"/>
                <a:ea typeface="Calibri" pitchFamily="34" charset="-122"/>
                <a:cs typeface="Calibri"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CF8"/>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400" dirty="0">
                <a:solidFill>
                  <a:srgbClr val="B8924A"/>
                </a:solidFill>
                <a:latin typeface="Calibri" pitchFamily="34" charset="0"/>
                <a:ea typeface="Calibri" pitchFamily="34" charset="-122"/>
                <a:cs typeface="Calibri" pitchFamily="34" charset="-120"/>
              </a:rPr>
              <a:t>WHERE IT APPLIES</a:t>
            </a:r>
            <a:endParaRPr lang="en-US" sz="1200" dirty="0"/>
          </a:p>
        </p:txBody>
      </p:sp>
      <p:sp>
        <p:nvSpPr>
          <p:cNvPr id="3" name="Text 1"/>
          <p:cNvSpPr/>
          <p:nvPr/>
        </p:nvSpPr>
        <p:spPr>
          <a:xfrm>
            <a:off x="548640" y="868680"/>
            <a:ext cx="8046720" cy="640080"/>
          </a:xfrm>
          <a:prstGeom prst="rect">
            <a:avLst/>
          </a:prstGeom>
          <a:noFill/>
          <a:ln/>
        </p:spPr>
        <p:txBody>
          <a:bodyPr wrap="square" lIns="0" tIns="0" rIns="0" bIns="0" rtlCol="0" anchor="ctr"/>
          <a:lstStyle/>
          <a:p>
            <a:pPr marL="0" indent="0">
              <a:buNone/>
            </a:pPr>
            <a:r>
              <a:rPr lang="en-US" sz="3200" dirty="0">
                <a:solidFill>
                  <a:srgbClr val="1A1A1A"/>
                </a:solidFill>
                <a:latin typeface="Georgia" pitchFamily="34" charset="0"/>
                <a:ea typeface="Georgia" pitchFamily="34" charset="-122"/>
                <a:cs typeface="Georgia" pitchFamily="34" charset="-120"/>
              </a:rPr>
              <a:t>One system. Many worlds.</a:t>
            </a:r>
            <a:endParaRPr lang="en-US" sz="3200" dirty="0"/>
          </a:p>
        </p:txBody>
      </p:sp>
      <p:sp>
        <p:nvSpPr>
          <p:cNvPr id="4" name="Shape 2"/>
          <p:cNvSpPr/>
          <p:nvPr/>
        </p:nvSpPr>
        <p:spPr>
          <a:xfrm>
            <a:off x="548640" y="1828800"/>
            <a:ext cx="2468880" cy="1828800"/>
          </a:xfrm>
          <a:prstGeom prst="rect">
            <a:avLst/>
          </a:prstGeom>
          <a:solidFill>
            <a:srgbClr val="FFFFFF"/>
          </a:solidFill>
          <a:ln w="6350">
            <a:solidFill>
              <a:srgbClr val="D1D5DB"/>
            </a:solidFill>
            <a:prstDash val="solid"/>
          </a:ln>
        </p:spPr>
        <p:txBody>
          <a:bodyPr/>
          <a:lstStyle/>
          <a:p>
            <a:endParaRPr lang="en-AE"/>
          </a:p>
        </p:txBody>
      </p:sp>
      <p:sp>
        <p:nvSpPr>
          <p:cNvPr id="5" name="Shape 3"/>
          <p:cNvSpPr/>
          <p:nvPr/>
        </p:nvSpPr>
        <p:spPr>
          <a:xfrm>
            <a:off x="1394460" y="2057400"/>
            <a:ext cx="777240" cy="777240"/>
          </a:xfrm>
          <a:prstGeom prst="ellipse">
            <a:avLst/>
          </a:prstGeom>
          <a:solidFill>
            <a:srgbClr val="1E3A5F"/>
          </a:solidFill>
          <a:ln/>
        </p:spPr>
        <p:txBody>
          <a:bodyPr/>
          <a:lstStyle/>
          <a:p>
            <a:endParaRPr lang="en-AE"/>
          </a:p>
        </p:txBody>
      </p:sp>
      <p:sp>
        <p:nvSpPr>
          <p:cNvPr id="6" name="Text 4"/>
          <p:cNvSpPr/>
          <p:nvPr/>
        </p:nvSpPr>
        <p:spPr>
          <a:xfrm>
            <a:off x="1394460" y="2057400"/>
            <a:ext cx="777240" cy="777240"/>
          </a:xfrm>
          <a:prstGeom prst="rect">
            <a:avLst/>
          </a:prstGeom>
          <a:noFill/>
          <a:ln/>
        </p:spPr>
        <p:txBody>
          <a:bodyPr wrap="square" lIns="0" tIns="0" rIns="0" bIns="0" rtlCol="0" anchor="ctr"/>
          <a:lstStyle/>
          <a:p>
            <a:pPr marL="0" indent="0" algn="ctr">
              <a:buNone/>
            </a:pPr>
            <a:r>
              <a:rPr lang="en-US" sz="3000" b="1" dirty="0">
                <a:solidFill>
                  <a:srgbClr val="B8924A"/>
                </a:solidFill>
                <a:latin typeface="Georgia" pitchFamily="34" charset="0"/>
                <a:ea typeface="Georgia" pitchFamily="34" charset="-122"/>
                <a:cs typeface="Georgia" pitchFamily="34" charset="-120"/>
              </a:rPr>
              <a:t>F</a:t>
            </a:r>
            <a:endParaRPr lang="en-US" sz="3000" dirty="0"/>
          </a:p>
        </p:txBody>
      </p:sp>
      <p:sp>
        <p:nvSpPr>
          <p:cNvPr id="7" name="Text 5"/>
          <p:cNvSpPr/>
          <p:nvPr/>
        </p:nvSpPr>
        <p:spPr>
          <a:xfrm>
            <a:off x="731520" y="2926080"/>
            <a:ext cx="2103120" cy="274320"/>
          </a:xfrm>
          <a:prstGeom prst="rect">
            <a:avLst/>
          </a:prstGeom>
          <a:noFill/>
          <a:ln/>
        </p:spPr>
        <p:txBody>
          <a:bodyPr wrap="square" lIns="0" tIns="0" rIns="0" bIns="0" rtlCol="0" anchor="ctr"/>
          <a:lstStyle/>
          <a:p>
            <a:pPr marL="0" indent="0" algn="ctr">
              <a:buNone/>
            </a:pPr>
            <a:r>
              <a:rPr lang="en-US" sz="1300" b="1" kern="0" spc="300" dirty="0">
                <a:solidFill>
                  <a:srgbClr val="1E3A5F"/>
                </a:solidFill>
                <a:latin typeface="Calibri" pitchFamily="34" charset="0"/>
                <a:ea typeface="Calibri" pitchFamily="34" charset="-122"/>
                <a:cs typeface="Calibri" pitchFamily="34" charset="-120"/>
              </a:rPr>
              <a:t>FINANCE</a:t>
            </a:r>
            <a:endParaRPr lang="en-US" sz="1300" dirty="0"/>
          </a:p>
        </p:txBody>
      </p:sp>
      <p:sp>
        <p:nvSpPr>
          <p:cNvPr id="8" name="Text 6"/>
          <p:cNvSpPr/>
          <p:nvPr/>
        </p:nvSpPr>
        <p:spPr>
          <a:xfrm>
            <a:off x="731520" y="3200400"/>
            <a:ext cx="2103120" cy="457200"/>
          </a:xfrm>
          <a:prstGeom prst="rect">
            <a:avLst/>
          </a:prstGeom>
          <a:noFill/>
          <a:ln/>
        </p:spPr>
        <p:txBody>
          <a:bodyPr wrap="square" lIns="0" tIns="0" rIns="0" bIns="0" rtlCol="0" anchor="ctr"/>
          <a:lstStyle/>
          <a:p>
            <a:pPr marL="0" indent="0" algn="ctr">
              <a:buNone/>
            </a:pPr>
            <a:r>
              <a:rPr lang="en-US" sz="1000" dirty="0">
                <a:solidFill>
                  <a:srgbClr val="1A1A1A"/>
                </a:solidFill>
                <a:latin typeface="Calibri" pitchFamily="34" charset="0"/>
                <a:ea typeface="Calibri" pitchFamily="34" charset="-122"/>
                <a:cs typeface="Calibri" pitchFamily="34" charset="-120"/>
              </a:rPr>
              <a:t>Reading the SEC archive as one connected story and surfacing the companies that don't fit.</a:t>
            </a:r>
            <a:endParaRPr lang="en-US" sz="1000" dirty="0"/>
          </a:p>
        </p:txBody>
      </p:sp>
      <p:sp>
        <p:nvSpPr>
          <p:cNvPr id="9" name="Shape 7"/>
          <p:cNvSpPr/>
          <p:nvPr/>
        </p:nvSpPr>
        <p:spPr>
          <a:xfrm>
            <a:off x="3337560" y="1828800"/>
            <a:ext cx="2468880" cy="1828800"/>
          </a:xfrm>
          <a:prstGeom prst="rect">
            <a:avLst/>
          </a:prstGeom>
          <a:solidFill>
            <a:srgbClr val="FFFFFF"/>
          </a:solidFill>
          <a:ln w="6350">
            <a:solidFill>
              <a:srgbClr val="D1D5DB"/>
            </a:solidFill>
            <a:prstDash val="solid"/>
          </a:ln>
        </p:spPr>
        <p:txBody>
          <a:bodyPr/>
          <a:lstStyle/>
          <a:p>
            <a:endParaRPr lang="en-AE"/>
          </a:p>
        </p:txBody>
      </p:sp>
      <p:sp>
        <p:nvSpPr>
          <p:cNvPr id="10" name="Shape 8"/>
          <p:cNvSpPr/>
          <p:nvPr/>
        </p:nvSpPr>
        <p:spPr>
          <a:xfrm>
            <a:off x="4183380" y="2057400"/>
            <a:ext cx="777240" cy="777240"/>
          </a:xfrm>
          <a:prstGeom prst="ellipse">
            <a:avLst/>
          </a:prstGeom>
          <a:solidFill>
            <a:srgbClr val="1E3A5F"/>
          </a:solidFill>
          <a:ln/>
        </p:spPr>
        <p:txBody>
          <a:bodyPr/>
          <a:lstStyle/>
          <a:p>
            <a:endParaRPr lang="en-AE"/>
          </a:p>
        </p:txBody>
      </p:sp>
      <p:sp>
        <p:nvSpPr>
          <p:cNvPr id="11" name="Text 9"/>
          <p:cNvSpPr/>
          <p:nvPr/>
        </p:nvSpPr>
        <p:spPr>
          <a:xfrm>
            <a:off x="4183380" y="2057400"/>
            <a:ext cx="777240" cy="777240"/>
          </a:xfrm>
          <a:prstGeom prst="rect">
            <a:avLst/>
          </a:prstGeom>
          <a:noFill/>
          <a:ln/>
        </p:spPr>
        <p:txBody>
          <a:bodyPr wrap="square" lIns="0" tIns="0" rIns="0" bIns="0" rtlCol="0" anchor="ctr"/>
          <a:lstStyle/>
          <a:p>
            <a:pPr marL="0" indent="0" algn="ctr">
              <a:buNone/>
            </a:pPr>
            <a:r>
              <a:rPr lang="en-US" sz="3000" b="1" dirty="0">
                <a:solidFill>
                  <a:srgbClr val="B8924A"/>
                </a:solidFill>
                <a:latin typeface="Georgia" pitchFamily="34" charset="0"/>
                <a:ea typeface="Georgia" pitchFamily="34" charset="-122"/>
                <a:cs typeface="Georgia" pitchFamily="34" charset="-120"/>
              </a:rPr>
              <a:t>M</a:t>
            </a:r>
            <a:endParaRPr lang="en-US" sz="3000" dirty="0"/>
          </a:p>
        </p:txBody>
      </p:sp>
      <p:sp>
        <p:nvSpPr>
          <p:cNvPr id="12" name="Text 10"/>
          <p:cNvSpPr/>
          <p:nvPr/>
        </p:nvSpPr>
        <p:spPr>
          <a:xfrm>
            <a:off x="3520440" y="2926080"/>
            <a:ext cx="2103120" cy="274320"/>
          </a:xfrm>
          <a:prstGeom prst="rect">
            <a:avLst/>
          </a:prstGeom>
          <a:noFill/>
          <a:ln/>
        </p:spPr>
        <p:txBody>
          <a:bodyPr wrap="square" lIns="0" tIns="0" rIns="0" bIns="0" rtlCol="0" anchor="ctr"/>
          <a:lstStyle/>
          <a:p>
            <a:pPr marL="0" indent="0" algn="ctr">
              <a:buNone/>
            </a:pPr>
            <a:r>
              <a:rPr lang="en-US" sz="1300" b="1" kern="0" spc="300" dirty="0">
                <a:solidFill>
                  <a:srgbClr val="1E3A5F"/>
                </a:solidFill>
                <a:latin typeface="Calibri" pitchFamily="34" charset="0"/>
                <a:ea typeface="Calibri" pitchFamily="34" charset="-122"/>
                <a:cs typeface="Calibri" pitchFamily="34" charset="-120"/>
              </a:rPr>
              <a:t>MEDICINE</a:t>
            </a:r>
            <a:endParaRPr lang="en-US" sz="1300" dirty="0"/>
          </a:p>
        </p:txBody>
      </p:sp>
      <p:sp>
        <p:nvSpPr>
          <p:cNvPr id="13" name="Text 11"/>
          <p:cNvSpPr/>
          <p:nvPr/>
        </p:nvSpPr>
        <p:spPr>
          <a:xfrm>
            <a:off x="3520440" y="3200400"/>
            <a:ext cx="2103120" cy="457200"/>
          </a:xfrm>
          <a:prstGeom prst="rect">
            <a:avLst/>
          </a:prstGeom>
          <a:noFill/>
          <a:ln/>
        </p:spPr>
        <p:txBody>
          <a:bodyPr wrap="square" lIns="0" tIns="0" rIns="0" bIns="0" rtlCol="0" anchor="ctr"/>
          <a:lstStyle/>
          <a:p>
            <a:pPr marL="0" indent="0" algn="ctr">
              <a:buNone/>
            </a:pPr>
            <a:r>
              <a:rPr lang="en-US" sz="1000" dirty="0">
                <a:solidFill>
                  <a:srgbClr val="1A1A1A"/>
                </a:solidFill>
                <a:latin typeface="Calibri" pitchFamily="34" charset="0"/>
                <a:ea typeface="Calibri" pitchFamily="34" charset="-122"/>
                <a:cs typeface="Calibri" pitchFamily="34" charset="-120"/>
              </a:rPr>
              <a:t>Finding the connections across millions of medical papers that no practitioner has time to read.</a:t>
            </a:r>
            <a:endParaRPr lang="en-US" sz="1000" dirty="0"/>
          </a:p>
        </p:txBody>
      </p:sp>
      <p:sp>
        <p:nvSpPr>
          <p:cNvPr id="14" name="Shape 12"/>
          <p:cNvSpPr/>
          <p:nvPr/>
        </p:nvSpPr>
        <p:spPr>
          <a:xfrm>
            <a:off x="6126480" y="1828800"/>
            <a:ext cx="2468880" cy="1828800"/>
          </a:xfrm>
          <a:prstGeom prst="rect">
            <a:avLst/>
          </a:prstGeom>
          <a:solidFill>
            <a:srgbClr val="FFFFFF"/>
          </a:solidFill>
          <a:ln w="6350">
            <a:solidFill>
              <a:srgbClr val="D1D5DB"/>
            </a:solidFill>
            <a:prstDash val="solid"/>
          </a:ln>
        </p:spPr>
        <p:txBody>
          <a:bodyPr/>
          <a:lstStyle/>
          <a:p>
            <a:endParaRPr lang="en-AE"/>
          </a:p>
        </p:txBody>
      </p:sp>
      <p:sp>
        <p:nvSpPr>
          <p:cNvPr id="15" name="Shape 13"/>
          <p:cNvSpPr/>
          <p:nvPr/>
        </p:nvSpPr>
        <p:spPr>
          <a:xfrm>
            <a:off x="6972300" y="2057400"/>
            <a:ext cx="777240" cy="777240"/>
          </a:xfrm>
          <a:prstGeom prst="ellipse">
            <a:avLst/>
          </a:prstGeom>
          <a:solidFill>
            <a:srgbClr val="1E3A5F"/>
          </a:solidFill>
          <a:ln/>
        </p:spPr>
        <p:txBody>
          <a:bodyPr/>
          <a:lstStyle/>
          <a:p>
            <a:endParaRPr lang="en-AE"/>
          </a:p>
        </p:txBody>
      </p:sp>
      <p:sp>
        <p:nvSpPr>
          <p:cNvPr id="16" name="Text 14"/>
          <p:cNvSpPr/>
          <p:nvPr/>
        </p:nvSpPr>
        <p:spPr>
          <a:xfrm>
            <a:off x="6972300" y="2057400"/>
            <a:ext cx="777240" cy="777240"/>
          </a:xfrm>
          <a:prstGeom prst="rect">
            <a:avLst/>
          </a:prstGeom>
          <a:noFill/>
          <a:ln/>
        </p:spPr>
        <p:txBody>
          <a:bodyPr wrap="square" lIns="0" tIns="0" rIns="0" bIns="0" rtlCol="0" anchor="ctr"/>
          <a:lstStyle/>
          <a:p>
            <a:pPr marL="0" indent="0" algn="ctr">
              <a:buNone/>
            </a:pPr>
            <a:r>
              <a:rPr lang="en-US" sz="3000" b="1" dirty="0">
                <a:solidFill>
                  <a:srgbClr val="B8924A"/>
                </a:solidFill>
                <a:latin typeface="Georgia" pitchFamily="34" charset="0"/>
                <a:ea typeface="Georgia" pitchFamily="34" charset="-122"/>
                <a:cs typeface="Georgia" pitchFamily="34" charset="-120"/>
              </a:rPr>
              <a:t>R</a:t>
            </a:r>
            <a:endParaRPr lang="en-US" sz="3000" dirty="0"/>
          </a:p>
        </p:txBody>
      </p:sp>
      <p:sp>
        <p:nvSpPr>
          <p:cNvPr id="17" name="Text 15"/>
          <p:cNvSpPr/>
          <p:nvPr/>
        </p:nvSpPr>
        <p:spPr>
          <a:xfrm>
            <a:off x="6309360" y="2926080"/>
            <a:ext cx="2103120" cy="274320"/>
          </a:xfrm>
          <a:prstGeom prst="rect">
            <a:avLst/>
          </a:prstGeom>
          <a:noFill/>
          <a:ln/>
        </p:spPr>
        <p:txBody>
          <a:bodyPr wrap="square" lIns="0" tIns="0" rIns="0" bIns="0" rtlCol="0" anchor="ctr"/>
          <a:lstStyle/>
          <a:p>
            <a:pPr marL="0" indent="0" algn="ctr">
              <a:buNone/>
            </a:pPr>
            <a:r>
              <a:rPr lang="en-US" sz="1300" b="1" kern="0" spc="300" dirty="0">
                <a:solidFill>
                  <a:srgbClr val="1E3A5F"/>
                </a:solidFill>
                <a:latin typeface="Calibri" pitchFamily="34" charset="0"/>
                <a:ea typeface="Calibri" pitchFamily="34" charset="-122"/>
                <a:cs typeface="Calibri" pitchFamily="34" charset="-120"/>
              </a:rPr>
              <a:t>RESEARCH</a:t>
            </a:r>
            <a:endParaRPr lang="en-US" sz="1300" dirty="0"/>
          </a:p>
        </p:txBody>
      </p:sp>
      <p:sp>
        <p:nvSpPr>
          <p:cNvPr id="18" name="Text 16"/>
          <p:cNvSpPr/>
          <p:nvPr/>
        </p:nvSpPr>
        <p:spPr>
          <a:xfrm>
            <a:off x="6309360" y="3200400"/>
            <a:ext cx="2103120" cy="457200"/>
          </a:xfrm>
          <a:prstGeom prst="rect">
            <a:avLst/>
          </a:prstGeom>
          <a:noFill/>
          <a:ln/>
        </p:spPr>
        <p:txBody>
          <a:bodyPr wrap="square" lIns="0" tIns="0" rIns="0" bIns="0" rtlCol="0" anchor="ctr"/>
          <a:lstStyle/>
          <a:p>
            <a:pPr marL="0" indent="0" algn="ctr">
              <a:buNone/>
            </a:pPr>
            <a:r>
              <a:rPr lang="en-US" sz="1000" dirty="0">
                <a:solidFill>
                  <a:srgbClr val="1A1A1A"/>
                </a:solidFill>
                <a:latin typeface="Calibri" pitchFamily="34" charset="0"/>
                <a:ea typeface="Calibri" pitchFamily="34" charset="-122"/>
                <a:cs typeface="Calibri" pitchFamily="34" charset="-120"/>
              </a:rPr>
              <a:t>Connecting centuries of scientific thinking. Finding the threads no one person could see in a lifetime of reading.</a:t>
            </a:r>
            <a:endParaRPr lang="en-US" sz="1000" dirty="0"/>
          </a:p>
        </p:txBody>
      </p:sp>
      <p:sp>
        <p:nvSpPr>
          <p:cNvPr id="19" name="Text 17"/>
          <p:cNvSpPr/>
          <p:nvPr/>
        </p:nvSpPr>
        <p:spPr>
          <a:xfrm>
            <a:off x="548640" y="4069080"/>
            <a:ext cx="8046720" cy="365760"/>
          </a:xfrm>
          <a:prstGeom prst="rect">
            <a:avLst/>
          </a:prstGeom>
          <a:noFill/>
          <a:ln/>
        </p:spPr>
        <p:txBody>
          <a:bodyPr wrap="square" lIns="0" tIns="0" rIns="0" bIns="0" rtlCol="0" anchor="ctr"/>
          <a:lstStyle/>
          <a:p>
            <a:pPr marL="0" indent="0" algn="ctr">
              <a:buNone/>
            </a:pPr>
            <a:r>
              <a:rPr lang="en-US" sz="1000" kern="0" spc="400" dirty="0">
                <a:solidFill>
                  <a:srgbClr val="1E3A5F"/>
                </a:solidFill>
                <a:latin typeface="Calibri" pitchFamily="34" charset="0"/>
                <a:ea typeface="Calibri" pitchFamily="34" charset="-122"/>
                <a:cs typeface="Calibri" pitchFamily="34" charset="-120"/>
              </a:rPr>
              <a:t>AND TOOLS BUILT ON TOP  ·  FOR EVERY OTHER FIELD</a:t>
            </a:r>
            <a:endParaRPr lang="en-US" sz="1000" dirty="0"/>
          </a:p>
        </p:txBody>
      </p:sp>
      <p:sp>
        <p:nvSpPr>
          <p:cNvPr id="20" name="Text 18"/>
          <p:cNvSpPr/>
          <p:nvPr/>
        </p:nvSpPr>
        <p:spPr>
          <a:xfrm>
            <a:off x="548640" y="4800600"/>
            <a:ext cx="3657600" cy="228600"/>
          </a:xfrm>
          <a:prstGeom prst="rect">
            <a:avLst/>
          </a:prstGeom>
          <a:noFill/>
          <a:ln/>
        </p:spPr>
        <p:txBody>
          <a:bodyPr wrap="square" lIns="0" tIns="0" rIns="0" bIns="0" rtlCol="0" anchor="ctr"/>
          <a:lstStyle/>
          <a:p>
            <a:pPr marL="0" indent="0">
              <a:buNone/>
            </a:pPr>
            <a:r>
              <a:rPr lang="en-US" sz="900" kern="0" spc="200" dirty="0">
                <a:solidFill>
                  <a:srgbClr val="4B5563"/>
                </a:solidFill>
                <a:latin typeface="Calibri" pitchFamily="34" charset="0"/>
                <a:ea typeface="Calibri" pitchFamily="34" charset="-122"/>
                <a:cs typeface="Calibri" pitchFamily="34" charset="-120"/>
              </a:rPr>
              <a:t>LATENT OCEAN</a:t>
            </a:r>
            <a:endParaRPr lang="en-US" sz="900" dirty="0"/>
          </a:p>
        </p:txBody>
      </p:sp>
      <p:sp>
        <p:nvSpPr>
          <p:cNvPr id="21" name="Text 19"/>
          <p:cNvSpPr/>
          <p:nvPr/>
        </p:nvSpPr>
        <p:spPr>
          <a:xfrm>
            <a:off x="7680960" y="4800600"/>
            <a:ext cx="914400" cy="228600"/>
          </a:xfrm>
          <a:prstGeom prst="rect">
            <a:avLst/>
          </a:prstGeom>
          <a:noFill/>
          <a:ln/>
        </p:spPr>
        <p:txBody>
          <a:bodyPr wrap="square" lIns="0" tIns="0" rIns="0" bIns="0" rtlCol="0" anchor="ctr"/>
          <a:lstStyle/>
          <a:p>
            <a:pPr marL="0" indent="0" algn="r">
              <a:buNone/>
            </a:pPr>
            <a:r>
              <a:rPr lang="en-US" sz="900" dirty="0">
                <a:solidFill>
                  <a:srgbClr val="4B5563"/>
                </a:solidFill>
                <a:latin typeface="Calibri" pitchFamily="34" charset="0"/>
                <a:ea typeface="Calibri" pitchFamily="34" charset="-122"/>
                <a:cs typeface="Calibri"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CF8"/>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400" dirty="0">
                <a:solidFill>
                  <a:srgbClr val="B8924A"/>
                </a:solidFill>
                <a:latin typeface="Calibri" pitchFamily="34" charset="0"/>
                <a:ea typeface="Calibri" pitchFamily="34" charset="-122"/>
                <a:cs typeface="Calibri" pitchFamily="34" charset="-120"/>
              </a:rPr>
              <a:t>WHAT IT'S ALREADY DONE</a:t>
            </a:r>
            <a:endParaRPr lang="en-US" sz="1200" dirty="0"/>
          </a:p>
        </p:txBody>
      </p:sp>
      <p:sp>
        <p:nvSpPr>
          <p:cNvPr id="3" name="Text 1"/>
          <p:cNvSpPr/>
          <p:nvPr/>
        </p:nvSpPr>
        <p:spPr>
          <a:xfrm>
            <a:off x="548640" y="868680"/>
            <a:ext cx="8046720" cy="640080"/>
          </a:xfrm>
          <a:prstGeom prst="rect">
            <a:avLst/>
          </a:prstGeom>
          <a:noFill/>
          <a:ln/>
        </p:spPr>
        <p:txBody>
          <a:bodyPr wrap="square" lIns="0" tIns="0" rIns="0" bIns="0" rtlCol="0" anchor="ctr"/>
          <a:lstStyle/>
          <a:p>
            <a:pPr marL="0" indent="0">
              <a:buNone/>
            </a:pPr>
            <a:r>
              <a:rPr lang="en-US" sz="3200" dirty="0">
                <a:solidFill>
                  <a:srgbClr val="1A1A1A"/>
                </a:solidFill>
                <a:latin typeface="Georgia" pitchFamily="34" charset="0"/>
                <a:ea typeface="Georgia" pitchFamily="34" charset="-122"/>
                <a:cs typeface="Georgia" pitchFamily="34" charset="-120"/>
              </a:rPr>
              <a:t>Real findings. Real domains.</a:t>
            </a:r>
            <a:endParaRPr lang="en-US" sz="3200" dirty="0"/>
          </a:p>
        </p:txBody>
      </p:sp>
      <p:sp>
        <p:nvSpPr>
          <p:cNvPr id="4" name="Shape 2"/>
          <p:cNvSpPr/>
          <p:nvPr/>
        </p:nvSpPr>
        <p:spPr>
          <a:xfrm>
            <a:off x="548640" y="1965960"/>
            <a:ext cx="502920" cy="502920"/>
          </a:xfrm>
          <a:prstGeom prst="ellipse">
            <a:avLst/>
          </a:prstGeom>
          <a:solidFill>
            <a:srgbClr val="B8924A"/>
          </a:solidFill>
          <a:ln/>
        </p:spPr>
        <p:txBody>
          <a:bodyPr/>
          <a:lstStyle/>
          <a:p>
            <a:endParaRPr lang="en-AE"/>
          </a:p>
        </p:txBody>
      </p:sp>
      <p:sp>
        <p:nvSpPr>
          <p:cNvPr id="5" name="Text 3"/>
          <p:cNvSpPr/>
          <p:nvPr/>
        </p:nvSpPr>
        <p:spPr>
          <a:xfrm>
            <a:off x="548640" y="1965960"/>
            <a:ext cx="502920" cy="502920"/>
          </a:xfrm>
          <a:prstGeom prst="rect">
            <a:avLst/>
          </a:prstGeom>
          <a:noFill/>
          <a:ln/>
        </p:spPr>
        <p:txBody>
          <a:bodyPr wrap="square" lIns="0" tIns="0" rIns="0" bIns="0" rtlCol="0" anchor="ctr"/>
          <a:lstStyle/>
          <a:p>
            <a:pPr marL="0" indent="0" algn="ctr">
              <a:buNone/>
            </a:pPr>
            <a:r>
              <a:rPr lang="en-US" sz="1800" b="1" dirty="0">
                <a:solidFill>
                  <a:srgbClr val="1E3A5F"/>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1325880" y="1783080"/>
            <a:ext cx="7269480" cy="86868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Found rare, high-value patterns in messy real-world data. Patterns that line up with what experts already know, and reveal what they don't.</a:t>
            </a:r>
            <a:endParaRPr lang="en-US" sz="1400" dirty="0"/>
          </a:p>
        </p:txBody>
      </p:sp>
      <p:sp>
        <p:nvSpPr>
          <p:cNvPr id="7" name="Shape 5"/>
          <p:cNvSpPr/>
          <p:nvPr/>
        </p:nvSpPr>
        <p:spPr>
          <a:xfrm>
            <a:off x="548640" y="2880360"/>
            <a:ext cx="502920" cy="502920"/>
          </a:xfrm>
          <a:prstGeom prst="ellipse">
            <a:avLst/>
          </a:prstGeom>
          <a:solidFill>
            <a:srgbClr val="B8924A"/>
          </a:solidFill>
          <a:ln/>
        </p:spPr>
        <p:txBody>
          <a:bodyPr/>
          <a:lstStyle/>
          <a:p>
            <a:endParaRPr lang="en-AE"/>
          </a:p>
        </p:txBody>
      </p:sp>
      <p:sp>
        <p:nvSpPr>
          <p:cNvPr id="8" name="Text 6"/>
          <p:cNvSpPr/>
          <p:nvPr/>
        </p:nvSpPr>
        <p:spPr>
          <a:xfrm>
            <a:off x="548640" y="2880360"/>
            <a:ext cx="502920" cy="502920"/>
          </a:xfrm>
          <a:prstGeom prst="rect">
            <a:avLst/>
          </a:prstGeom>
          <a:noFill/>
          <a:ln/>
        </p:spPr>
        <p:txBody>
          <a:bodyPr wrap="square" lIns="0" tIns="0" rIns="0" bIns="0" rtlCol="0" anchor="ctr"/>
          <a:lstStyle/>
          <a:p>
            <a:pPr marL="0" indent="0" algn="ctr">
              <a:buNone/>
            </a:pPr>
            <a:r>
              <a:rPr lang="en-US" sz="1800" b="1" dirty="0">
                <a:solidFill>
                  <a:srgbClr val="1E3A5F"/>
                </a:solidFill>
                <a:latin typeface="Georgia" pitchFamily="34" charset="0"/>
                <a:ea typeface="Georgia" pitchFamily="34" charset="-122"/>
                <a:cs typeface="Georgia" pitchFamily="34" charset="-120"/>
              </a:rPr>
              <a:t>2</a:t>
            </a:r>
            <a:endParaRPr lang="en-US" sz="1800" dirty="0"/>
          </a:p>
        </p:txBody>
      </p:sp>
      <p:sp>
        <p:nvSpPr>
          <p:cNvPr id="9" name="Text 7"/>
          <p:cNvSpPr/>
          <p:nvPr/>
        </p:nvSpPr>
        <p:spPr>
          <a:xfrm>
            <a:off x="1325880" y="2697480"/>
            <a:ext cx="7269480" cy="86868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Reads live data and surfaces what matters most. Adjustable by region and timeframe.</a:t>
            </a:r>
            <a:endParaRPr lang="en-US" sz="1400" dirty="0"/>
          </a:p>
        </p:txBody>
      </p:sp>
      <p:sp>
        <p:nvSpPr>
          <p:cNvPr id="10" name="Shape 8"/>
          <p:cNvSpPr/>
          <p:nvPr/>
        </p:nvSpPr>
        <p:spPr>
          <a:xfrm>
            <a:off x="548640" y="3794760"/>
            <a:ext cx="502920" cy="502920"/>
          </a:xfrm>
          <a:prstGeom prst="ellipse">
            <a:avLst/>
          </a:prstGeom>
          <a:solidFill>
            <a:srgbClr val="B8924A"/>
          </a:solidFill>
          <a:ln/>
        </p:spPr>
        <p:txBody>
          <a:bodyPr/>
          <a:lstStyle/>
          <a:p>
            <a:endParaRPr lang="en-AE"/>
          </a:p>
        </p:txBody>
      </p:sp>
      <p:sp>
        <p:nvSpPr>
          <p:cNvPr id="11" name="Text 9"/>
          <p:cNvSpPr/>
          <p:nvPr/>
        </p:nvSpPr>
        <p:spPr>
          <a:xfrm>
            <a:off x="548640" y="3794760"/>
            <a:ext cx="502920" cy="502920"/>
          </a:xfrm>
          <a:prstGeom prst="rect">
            <a:avLst/>
          </a:prstGeom>
          <a:noFill/>
          <a:ln/>
        </p:spPr>
        <p:txBody>
          <a:bodyPr wrap="square" lIns="0" tIns="0" rIns="0" bIns="0" rtlCol="0" anchor="ctr"/>
          <a:lstStyle/>
          <a:p>
            <a:pPr marL="0" indent="0" algn="ctr">
              <a:buNone/>
            </a:pPr>
            <a:r>
              <a:rPr lang="en-US" sz="1800" b="1" dirty="0">
                <a:solidFill>
                  <a:srgbClr val="1E3A5F"/>
                </a:solidFill>
                <a:latin typeface="Georgia" pitchFamily="34" charset="0"/>
                <a:ea typeface="Georgia" pitchFamily="34" charset="-122"/>
                <a:cs typeface="Georgia" pitchFamily="34" charset="-120"/>
              </a:rPr>
              <a:t>3</a:t>
            </a:r>
            <a:endParaRPr lang="en-US" sz="1800" dirty="0"/>
          </a:p>
        </p:txBody>
      </p:sp>
      <p:sp>
        <p:nvSpPr>
          <p:cNvPr id="12" name="Text 10"/>
          <p:cNvSpPr/>
          <p:nvPr/>
        </p:nvSpPr>
        <p:spPr>
          <a:xfrm>
            <a:off x="1325880" y="3611880"/>
            <a:ext cx="7269480" cy="86868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Applied a single system to multiple entirely different fields, without retraining.</a:t>
            </a:r>
            <a:endParaRPr lang="en-US" sz="1400" dirty="0"/>
          </a:p>
        </p:txBody>
      </p:sp>
      <p:sp>
        <p:nvSpPr>
          <p:cNvPr id="13" name="Text 11"/>
          <p:cNvSpPr/>
          <p:nvPr/>
        </p:nvSpPr>
        <p:spPr>
          <a:xfrm>
            <a:off x="548640" y="4800600"/>
            <a:ext cx="3657600" cy="228600"/>
          </a:xfrm>
          <a:prstGeom prst="rect">
            <a:avLst/>
          </a:prstGeom>
          <a:noFill/>
          <a:ln/>
        </p:spPr>
        <p:txBody>
          <a:bodyPr wrap="square" lIns="0" tIns="0" rIns="0" bIns="0" rtlCol="0" anchor="ctr"/>
          <a:lstStyle/>
          <a:p>
            <a:pPr marL="0" indent="0">
              <a:buNone/>
            </a:pPr>
            <a:r>
              <a:rPr lang="en-US" sz="900" kern="0" spc="200" dirty="0">
                <a:solidFill>
                  <a:srgbClr val="4B5563"/>
                </a:solidFill>
                <a:latin typeface="Calibri" pitchFamily="34" charset="0"/>
                <a:ea typeface="Calibri" pitchFamily="34" charset="-122"/>
                <a:cs typeface="Calibri" pitchFamily="34" charset="-120"/>
              </a:rPr>
              <a:t>LATENT OCEAN</a:t>
            </a:r>
            <a:endParaRPr lang="en-US" sz="900" dirty="0"/>
          </a:p>
        </p:txBody>
      </p:sp>
      <p:sp>
        <p:nvSpPr>
          <p:cNvPr id="14" name="Text 12"/>
          <p:cNvSpPr/>
          <p:nvPr/>
        </p:nvSpPr>
        <p:spPr>
          <a:xfrm>
            <a:off x="7680960" y="4800600"/>
            <a:ext cx="914400" cy="228600"/>
          </a:xfrm>
          <a:prstGeom prst="rect">
            <a:avLst/>
          </a:prstGeom>
          <a:noFill/>
          <a:ln/>
        </p:spPr>
        <p:txBody>
          <a:bodyPr wrap="square" lIns="0" tIns="0" rIns="0" bIns="0" rtlCol="0" anchor="ctr"/>
          <a:lstStyle/>
          <a:p>
            <a:pPr marL="0" indent="0" algn="r">
              <a:buNone/>
            </a:pPr>
            <a:r>
              <a:rPr lang="en-US" sz="900" dirty="0">
                <a:solidFill>
                  <a:srgbClr val="4B5563"/>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CF8"/>
        </a:solidFill>
        <a:effectLst/>
      </p:bgPr>
    </p:bg>
    <p:spTree>
      <p:nvGrpSpPr>
        <p:cNvPr id="1" name=""/>
        <p:cNvGrpSpPr/>
        <p:nvPr/>
      </p:nvGrpSpPr>
      <p:grpSpPr>
        <a:xfrm>
          <a:off x="0" y="0"/>
          <a:ext cx="0" cy="0"/>
          <a:chOff x="0" y="0"/>
          <a:chExt cx="0" cy="0"/>
        </a:xfrm>
      </p:grpSpPr>
      <p:sp>
        <p:nvSpPr>
          <p:cNvPr id="2" name="Text 0"/>
          <p:cNvSpPr/>
          <p:nvPr/>
        </p:nvSpPr>
        <p:spPr>
          <a:xfrm>
            <a:off x="548640" y="274320"/>
            <a:ext cx="7315200" cy="228600"/>
          </a:xfrm>
          <a:prstGeom prst="rect">
            <a:avLst/>
          </a:prstGeom>
          <a:noFill/>
          <a:ln/>
        </p:spPr>
        <p:txBody>
          <a:bodyPr wrap="square" lIns="0" tIns="0" rIns="0" bIns="0" rtlCol="0" anchor="ctr"/>
          <a:lstStyle/>
          <a:p>
            <a:pPr marL="0" indent="0">
              <a:buNone/>
            </a:pPr>
            <a:r>
              <a:rPr lang="en-US" sz="1100" b="1" kern="0" spc="400" dirty="0">
                <a:solidFill>
                  <a:srgbClr val="B8924A"/>
                </a:solidFill>
                <a:latin typeface="Calibri" pitchFamily="34" charset="0"/>
                <a:ea typeface="Calibri" pitchFamily="34" charset="-122"/>
                <a:cs typeface="Calibri" pitchFamily="34" charset="-120"/>
              </a:rPr>
              <a:t>SEE IT WORK  ·  LANDING</a:t>
            </a:r>
            <a:endParaRPr lang="en-US" sz="1100" dirty="0"/>
          </a:p>
        </p:txBody>
      </p:sp>
      <p:sp>
        <p:nvSpPr>
          <p:cNvPr id="3" name="Text 1"/>
          <p:cNvSpPr/>
          <p:nvPr/>
        </p:nvSpPr>
        <p:spPr>
          <a:xfrm>
            <a:off x="548640" y="502920"/>
            <a:ext cx="8046720" cy="457200"/>
          </a:xfrm>
          <a:prstGeom prst="rect">
            <a:avLst/>
          </a:prstGeom>
          <a:noFill/>
          <a:ln/>
        </p:spPr>
        <p:txBody>
          <a:bodyPr wrap="square" lIns="0" tIns="0" rIns="0" bIns="0" rtlCol="0" anchor="ctr"/>
          <a:lstStyle/>
          <a:p>
            <a:pPr marL="0" indent="0">
              <a:buNone/>
            </a:pPr>
            <a:r>
              <a:rPr lang="en-US" sz="2000" i="1" dirty="0">
                <a:solidFill>
                  <a:srgbClr val="1A1A1A"/>
                </a:solidFill>
                <a:latin typeface="Georgia" pitchFamily="34" charset="0"/>
                <a:ea typeface="Georgia" pitchFamily="34" charset="-122"/>
                <a:cs typeface="Georgia" pitchFamily="34" charset="-120"/>
              </a:rPr>
              <a:t>Every row, structurally aware.</a:t>
            </a:r>
            <a:endParaRPr lang="en-US" sz="2000" dirty="0"/>
          </a:p>
        </p:txBody>
      </p:sp>
      <p:pic>
        <p:nvPicPr>
          <p:cNvPr id="4" name="Image 0" descr="scripts/site_shots/home_cropped.png"/>
          <p:cNvPicPr>
            <a:picLocks noChangeAspect="1"/>
          </p:cNvPicPr>
          <p:nvPr/>
        </p:nvPicPr>
        <p:blipFill>
          <a:blip r:embed="rId3"/>
          <a:stretch>
            <a:fillRect/>
          </a:stretch>
        </p:blipFill>
        <p:spPr>
          <a:xfrm>
            <a:off x="1575881" y="960120"/>
            <a:ext cx="5992238" cy="3520440"/>
          </a:xfrm>
          <a:prstGeom prst="rect">
            <a:avLst/>
          </a:prstGeom>
        </p:spPr>
      </p:pic>
      <p:sp>
        <p:nvSpPr>
          <p:cNvPr id="5" name="Text 2"/>
          <p:cNvSpPr/>
          <p:nvPr/>
        </p:nvSpPr>
        <p:spPr>
          <a:xfrm>
            <a:off x="548640" y="4526280"/>
            <a:ext cx="8046720" cy="228600"/>
          </a:xfrm>
          <a:prstGeom prst="rect">
            <a:avLst/>
          </a:prstGeom>
          <a:noFill/>
          <a:ln/>
        </p:spPr>
        <p:txBody>
          <a:bodyPr wrap="square" lIns="0" tIns="0" rIns="0" bIns="0" rtlCol="0" anchor="ctr"/>
          <a:lstStyle/>
          <a:p>
            <a:pPr marL="0" indent="0" algn="ctr">
              <a:buNone/>
            </a:pPr>
            <a:r>
              <a:rPr lang="en-US" sz="1000" i="1" dirty="0">
                <a:solidFill>
                  <a:srgbClr val="4B5563"/>
                </a:solidFill>
                <a:latin typeface="Calibri" pitchFamily="34" charset="0"/>
                <a:ea typeface="Calibri" pitchFamily="34" charset="-122"/>
                <a:cs typeface="Calibri" pitchFamily="34" charset="-120"/>
              </a:rPr>
              <a:t>The home page. What visitors see first.</a:t>
            </a:r>
            <a:endParaRPr lang="en-US" sz="1000" dirty="0"/>
          </a:p>
        </p:txBody>
      </p:sp>
      <p:sp>
        <p:nvSpPr>
          <p:cNvPr id="6" name="Text 3"/>
          <p:cNvSpPr/>
          <p:nvPr/>
        </p:nvSpPr>
        <p:spPr>
          <a:xfrm>
            <a:off x="548640" y="4800600"/>
            <a:ext cx="3657600" cy="228600"/>
          </a:xfrm>
          <a:prstGeom prst="rect">
            <a:avLst/>
          </a:prstGeom>
          <a:noFill/>
          <a:ln/>
        </p:spPr>
        <p:txBody>
          <a:bodyPr wrap="square" lIns="0" tIns="0" rIns="0" bIns="0" rtlCol="0" anchor="ctr"/>
          <a:lstStyle/>
          <a:p>
            <a:pPr marL="0" indent="0">
              <a:buNone/>
            </a:pPr>
            <a:r>
              <a:rPr lang="en-US" sz="900" kern="0" spc="200" dirty="0">
                <a:solidFill>
                  <a:srgbClr val="4B5563"/>
                </a:solidFill>
                <a:latin typeface="Calibri" pitchFamily="34" charset="0"/>
                <a:ea typeface="Calibri" pitchFamily="34" charset="-122"/>
                <a:cs typeface="Calibri" pitchFamily="34" charset="-120"/>
              </a:rPr>
              <a:t>LATENT OCEAN</a:t>
            </a:r>
            <a:endParaRPr lang="en-US" sz="900" dirty="0"/>
          </a:p>
        </p:txBody>
      </p:sp>
      <p:sp>
        <p:nvSpPr>
          <p:cNvPr id="7" name="Text 4"/>
          <p:cNvSpPr/>
          <p:nvPr/>
        </p:nvSpPr>
        <p:spPr>
          <a:xfrm>
            <a:off x="7680960" y="4800600"/>
            <a:ext cx="914400" cy="228600"/>
          </a:xfrm>
          <a:prstGeom prst="rect">
            <a:avLst/>
          </a:prstGeom>
          <a:noFill/>
          <a:ln/>
        </p:spPr>
        <p:txBody>
          <a:bodyPr wrap="square" lIns="0" tIns="0" rIns="0" bIns="0" rtlCol="0" anchor="ctr"/>
          <a:lstStyle/>
          <a:p>
            <a:pPr marL="0" indent="0" algn="r">
              <a:buNone/>
            </a:pPr>
            <a:r>
              <a:rPr lang="en-US" sz="900" dirty="0">
                <a:solidFill>
                  <a:srgbClr val="4B5563"/>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CF8"/>
        </a:solidFill>
        <a:effectLst/>
      </p:bgPr>
    </p:bg>
    <p:spTree>
      <p:nvGrpSpPr>
        <p:cNvPr id="1" name=""/>
        <p:cNvGrpSpPr/>
        <p:nvPr/>
      </p:nvGrpSpPr>
      <p:grpSpPr>
        <a:xfrm>
          <a:off x="0" y="0"/>
          <a:ext cx="0" cy="0"/>
          <a:chOff x="0" y="0"/>
          <a:chExt cx="0" cy="0"/>
        </a:xfrm>
      </p:grpSpPr>
      <p:sp>
        <p:nvSpPr>
          <p:cNvPr id="2" name="Text 0"/>
          <p:cNvSpPr/>
          <p:nvPr/>
        </p:nvSpPr>
        <p:spPr>
          <a:xfrm>
            <a:off x="548640" y="274320"/>
            <a:ext cx="7315200" cy="228600"/>
          </a:xfrm>
          <a:prstGeom prst="rect">
            <a:avLst/>
          </a:prstGeom>
          <a:noFill/>
          <a:ln/>
        </p:spPr>
        <p:txBody>
          <a:bodyPr wrap="square" lIns="0" tIns="0" rIns="0" bIns="0" rtlCol="0" anchor="ctr"/>
          <a:lstStyle/>
          <a:p>
            <a:pPr marL="0" indent="0">
              <a:buNone/>
            </a:pPr>
            <a:r>
              <a:rPr lang="en-US" sz="1100" b="1" kern="0" spc="400" dirty="0">
                <a:solidFill>
                  <a:srgbClr val="B8924A"/>
                </a:solidFill>
                <a:latin typeface="Calibri" pitchFamily="34" charset="0"/>
                <a:ea typeface="Calibri" pitchFamily="34" charset="-122"/>
                <a:cs typeface="Calibri" pitchFamily="34" charset="-120"/>
              </a:rPr>
              <a:t>SEE IT WORK  ·  PLATFORM</a:t>
            </a:r>
            <a:endParaRPr lang="en-US" sz="1100" dirty="0"/>
          </a:p>
        </p:txBody>
      </p:sp>
      <p:sp>
        <p:nvSpPr>
          <p:cNvPr id="3" name="Text 1"/>
          <p:cNvSpPr/>
          <p:nvPr/>
        </p:nvSpPr>
        <p:spPr>
          <a:xfrm>
            <a:off x="548640" y="502920"/>
            <a:ext cx="8046720" cy="457200"/>
          </a:xfrm>
          <a:prstGeom prst="rect">
            <a:avLst/>
          </a:prstGeom>
          <a:noFill/>
          <a:ln/>
        </p:spPr>
        <p:txBody>
          <a:bodyPr wrap="square" lIns="0" tIns="0" rIns="0" bIns="0" rtlCol="0" anchor="ctr"/>
          <a:lstStyle/>
          <a:p>
            <a:pPr marL="0" indent="0">
              <a:buNone/>
            </a:pPr>
            <a:r>
              <a:rPr lang="en-US" sz="2000" i="1" dirty="0">
                <a:solidFill>
                  <a:srgbClr val="1A1A1A"/>
                </a:solidFill>
                <a:latin typeface="Georgia" pitchFamily="34" charset="0"/>
                <a:ea typeface="Georgia" pitchFamily="34" charset="-122"/>
                <a:cs typeface="Georgia" pitchFamily="34" charset="-120"/>
              </a:rPr>
              <a:t>Structural fingerprints. A first-class column.</a:t>
            </a:r>
            <a:endParaRPr lang="en-US" sz="2000" dirty="0"/>
          </a:p>
        </p:txBody>
      </p:sp>
      <p:pic>
        <p:nvPicPr>
          <p:cNvPr id="4" name="Image 0" descr="scripts/site_shots/platform_cropped.png"/>
          <p:cNvPicPr>
            <a:picLocks noChangeAspect="1"/>
          </p:cNvPicPr>
          <p:nvPr/>
        </p:nvPicPr>
        <p:blipFill>
          <a:blip r:embed="rId3"/>
          <a:stretch>
            <a:fillRect/>
          </a:stretch>
        </p:blipFill>
        <p:spPr>
          <a:xfrm>
            <a:off x="1575881" y="960120"/>
            <a:ext cx="5992238" cy="3520440"/>
          </a:xfrm>
          <a:prstGeom prst="rect">
            <a:avLst/>
          </a:prstGeom>
        </p:spPr>
      </p:pic>
      <p:sp>
        <p:nvSpPr>
          <p:cNvPr id="5" name="Text 2"/>
          <p:cNvSpPr/>
          <p:nvPr/>
        </p:nvSpPr>
        <p:spPr>
          <a:xfrm>
            <a:off x="548640" y="4526280"/>
            <a:ext cx="8046720" cy="228600"/>
          </a:xfrm>
          <a:prstGeom prst="rect">
            <a:avLst/>
          </a:prstGeom>
          <a:noFill/>
          <a:ln/>
        </p:spPr>
        <p:txBody>
          <a:bodyPr wrap="square" lIns="0" tIns="0" rIns="0" bIns="0" rtlCol="0" anchor="ctr"/>
          <a:lstStyle/>
          <a:p>
            <a:pPr marL="0" indent="0" algn="ctr">
              <a:buNone/>
            </a:pPr>
            <a:r>
              <a:rPr lang="en-US" sz="1000" i="1" dirty="0">
                <a:solidFill>
                  <a:srgbClr val="4B5563"/>
                </a:solidFill>
                <a:latin typeface="Calibri" pitchFamily="34" charset="0"/>
                <a:ea typeface="Calibri" pitchFamily="34" charset="-122"/>
                <a:cs typeface="Calibri" pitchFamily="34" charset="-120"/>
              </a:rPr>
              <a:t>The product, explained. One primitive, fifteen data shapes.</a:t>
            </a:r>
            <a:endParaRPr lang="en-US" sz="1000" dirty="0"/>
          </a:p>
        </p:txBody>
      </p:sp>
      <p:sp>
        <p:nvSpPr>
          <p:cNvPr id="6" name="Text 3"/>
          <p:cNvSpPr/>
          <p:nvPr/>
        </p:nvSpPr>
        <p:spPr>
          <a:xfrm>
            <a:off x="548640" y="4800600"/>
            <a:ext cx="3657600" cy="228600"/>
          </a:xfrm>
          <a:prstGeom prst="rect">
            <a:avLst/>
          </a:prstGeom>
          <a:noFill/>
          <a:ln/>
        </p:spPr>
        <p:txBody>
          <a:bodyPr wrap="square" lIns="0" tIns="0" rIns="0" bIns="0" rtlCol="0" anchor="ctr"/>
          <a:lstStyle/>
          <a:p>
            <a:pPr marL="0" indent="0">
              <a:buNone/>
            </a:pPr>
            <a:r>
              <a:rPr lang="en-US" sz="900" kern="0" spc="200" dirty="0">
                <a:solidFill>
                  <a:srgbClr val="4B5563"/>
                </a:solidFill>
                <a:latin typeface="Calibri" pitchFamily="34" charset="0"/>
                <a:ea typeface="Calibri" pitchFamily="34" charset="-122"/>
                <a:cs typeface="Calibri" pitchFamily="34" charset="-120"/>
              </a:rPr>
              <a:t>LATENT OCEAN</a:t>
            </a:r>
            <a:endParaRPr lang="en-US" sz="900" dirty="0"/>
          </a:p>
        </p:txBody>
      </p:sp>
      <p:sp>
        <p:nvSpPr>
          <p:cNvPr id="7" name="Text 4"/>
          <p:cNvSpPr/>
          <p:nvPr/>
        </p:nvSpPr>
        <p:spPr>
          <a:xfrm>
            <a:off x="7680960" y="4800600"/>
            <a:ext cx="914400" cy="228600"/>
          </a:xfrm>
          <a:prstGeom prst="rect">
            <a:avLst/>
          </a:prstGeom>
          <a:noFill/>
          <a:ln/>
        </p:spPr>
        <p:txBody>
          <a:bodyPr wrap="square" lIns="0" tIns="0" rIns="0" bIns="0" rtlCol="0" anchor="ctr"/>
          <a:lstStyle/>
          <a:p>
            <a:pPr marL="0" indent="0" algn="r">
              <a:buNone/>
            </a:pPr>
            <a:r>
              <a:rPr lang="en-US" sz="900" dirty="0">
                <a:solidFill>
                  <a:srgbClr val="4B5563"/>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CF8"/>
        </a:solidFill>
        <a:effectLst/>
      </p:bgPr>
    </p:bg>
    <p:spTree>
      <p:nvGrpSpPr>
        <p:cNvPr id="1" name=""/>
        <p:cNvGrpSpPr/>
        <p:nvPr/>
      </p:nvGrpSpPr>
      <p:grpSpPr>
        <a:xfrm>
          <a:off x="0" y="0"/>
          <a:ext cx="0" cy="0"/>
          <a:chOff x="0" y="0"/>
          <a:chExt cx="0" cy="0"/>
        </a:xfrm>
      </p:grpSpPr>
      <p:sp>
        <p:nvSpPr>
          <p:cNvPr id="2" name="Text 0"/>
          <p:cNvSpPr/>
          <p:nvPr/>
        </p:nvSpPr>
        <p:spPr>
          <a:xfrm>
            <a:off x="548640" y="274320"/>
            <a:ext cx="7315200" cy="228600"/>
          </a:xfrm>
          <a:prstGeom prst="rect">
            <a:avLst/>
          </a:prstGeom>
          <a:noFill/>
          <a:ln/>
        </p:spPr>
        <p:txBody>
          <a:bodyPr wrap="square" lIns="0" tIns="0" rIns="0" bIns="0" rtlCol="0" anchor="ctr"/>
          <a:lstStyle/>
          <a:p>
            <a:pPr marL="0" indent="0">
              <a:buNone/>
            </a:pPr>
            <a:r>
              <a:rPr lang="en-US" sz="1100" b="1" kern="0" spc="400" dirty="0">
                <a:solidFill>
                  <a:srgbClr val="B8924A"/>
                </a:solidFill>
                <a:latin typeface="Calibri" pitchFamily="34" charset="0"/>
                <a:ea typeface="Calibri" pitchFamily="34" charset="-122"/>
                <a:cs typeface="Calibri" pitchFamily="34" charset="-120"/>
              </a:rPr>
              <a:t>SEE IT WORK  ·  TITAN</a:t>
            </a:r>
            <a:endParaRPr lang="en-US" sz="1100" dirty="0"/>
          </a:p>
        </p:txBody>
      </p:sp>
      <p:sp>
        <p:nvSpPr>
          <p:cNvPr id="3" name="Text 1"/>
          <p:cNvSpPr/>
          <p:nvPr/>
        </p:nvSpPr>
        <p:spPr>
          <a:xfrm>
            <a:off x="548640" y="502920"/>
            <a:ext cx="8046720" cy="457200"/>
          </a:xfrm>
          <a:prstGeom prst="rect">
            <a:avLst/>
          </a:prstGeom>
          <a:noFill/>
          <a:ln/>
        </p:spPr>
        <p:txBody>
          <a:bodyPr wrap="square" lIns="0" tIns="0" rIns="0" bIns="0" rtlCol="0" anchor="ctr"/>
          <a:lstStyle/>
          <a:p>
            <a:pPr marL="0" indent="0">
              <a:buNone/>
            </a:pPr>
            <a:r>
              <a:rPr lang="en-US" sz="2000" i="1" dirty="0">
                <a:solidFill>
                  <a:srgbClr val="1A1A1A"/>
                </a:solidFill>
                <a:latin typeface="Georgia" pitchFamily="34" charset="0"/>
                <a:ea typeface="Georgia" pitchFamily="34" charset="-122"/>
                <a:cs typeface="Georgia" pitchFamily="34" charset="-120"/>
              </a:rPr>
              <a:t>Everything, at once, in 33 seconds.</a:t>
            </a:r>
            <a:endParaRPr lang="en-US" sz="2000" dirty="0"/>
          </a:p>
        </p:txBody>
      </p:sp>
      <p:pic>
        <p:nvPicPr>
          <p:cNvPr id="4" name="Image 0" descr="scripts/site_shots/titan_cropped.png"/>
          <p:cNvPicPr>
            <a:picLocks noChangeAspect="1"/>
          </p:cNvPicPr>
          <p:nvPr/>
        </p:nvPicPr>
        <p:blipFill>
          <a:blip r:embed="rId3"/>
          <a:stretch>
            <a:fillRect/>
          </a:stretch>
        </p:blipFill>
        <p:spPr>
          <a:xfrm>
            <a:off x="1575881" y="960120"/>
            <a:ext cx="5992238" cy="3520440"/>
          </a:xfrm>
          <a:prstGeom prst="rect">
            <a:avLst/>
          </a:prstGeom>
        </p:spPr>
      </p:pic>
      <p:sp>
        <p:nvSpPr>
          <p:cNvPr id="5" name="Text 2"/>
          <p:cNvSpPr/>
          <p:nvPr/>
        </p:nvSpPr>
        <p:spPr>
          <a:xfrm>
            <a:off x="548640" y="4526280"/>
            <a:ext cx="8046720" cy="228600"/>
          </a:xfrm>
          <a:prstGeom prst="rect">
            <a:avLst/>
          </a:prstGeom>
          <a:noFill/>
          <a:ln/>
        </p:spPr>
        <p:txBody>
          <a:bodyPr wrap="square" lIns="0" tIns="0" rIns="0" bIns="0" rtlCol="0" anchor="ctr"/>
          <a:lstStyle/>
          <a:p>
            <a:pPr marL="0" indent="0" algn="ctr">
              <a:buNone/>
            </a:pPr>
            <a:r>
              <a:rPr lang="en-US" sz="1000" i="1" dirty="0">
                <a:solidFill>
                  <a:srgbClr val="4B5563"/>
                </a:solidFill>
                <a:latin typeface="Calibri" pitchFamily="34" charset="0"/>
                <a:ea typeface="Calibri" pitchFamily="34" charset="-122"/>
                <a:cs typeface="Calibri" pitchFamily="34" charset="-120"/>
              </a:rPr>
              <a:t>Eighteen public APIs, processed live, in a single deterministic run.</a:t>
            </a:r>
            <a:endParaRPr lang="en-US" sz="1000" dirty="0"/>
          </a:p>
        </p:txBody>
      </p:sp>
      <p:sp>
        <p:nvSpPr>
          <p:cNvPr id="6" name="Text 3"/>
          <p:cNvSpPr/>
          <p:nvPr/>
        </p:nvSpPr>
        <p:spPr>
          <a:xfrm>
            <a:off x="548640" y="4800600"/>
            <a:ext cx="3657600" cy="228600"/>
          </a:xfrm>
          <a:prstGeom prst="rect">
            <a:avLst/>
          </a:prstGeom>
          <a:noFill/>
          <a:ln/>
        </p:spPr>
        <p:txBody>
          <a:bodyPr wrap="square" lIns="0" tIns="0" rIns="0" bIns="0" rtlCol="0" anchor="ctr"/>
          <a:lstStyle/>
          <a:p>
            <a:pPr marL="0" indent="0">
              <a:buNone/>
            </a:pPr>
            <a:r>
              <a:rPr lang="en-US" sz="900" kern="0" spc="200" dirty="0">
                <a:solidFill>
                  <a:srgbClr val="4B5563"/>
                </a:solidFill>
                <a:latin typeface="Calibri" pitchFamily="34" charset="0"/>
                <a:ea typeface="Calibri" pitchFamily="34" charset="-122"/>
                <a:cs typeface="Calibri" pitchFamily="34" charset="-120"/>
              </a:rPr>
              <a:t>LATENT OCEAN</a:t>
            </a:r>
            <a:endParaRPr lang="en-US" sz="900" dirty="0"/>
          </a:p>
        </p:txBody>
      </p:sp>
      <p:sp>
        <p:nvSpPr>
          <p:cNvPr id="7" name="Text 4"/>
          <p:cNvSpPr/>
          <p:nvPr/>
        </p:nvSpPr>
        <p:spPr>
          <a:xfrm>
            <a:off x="7680960" y="4800600"/>
            <a:ext cx="914400" cy="228600"/>
          </a:xfrm>
          <a:prstGeom prst="rect">
            <a:avLst/>
          </a:prstGeom>
          <a:noFill/>
          <a:ln/>
        </p:spPr>
        <p:txBody>
          <a:bodyPr wrap="square" lIns="0" tIns="0" rIns="0" bIns="0" rtlCol="0" anchor="ctr"/>
          <a:lstStyle/>
          <a:p>
            <a:pPr marL="0" indent="0" algn="r">
              <a:buNone/>
            </a:pPr>
            <a:r>
              <a:rPr lang="en-US" sz="900" dirty="0">
                <a:solidFill>
                  <a:srgbClr val="4B5563"/>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CF8"/>
        </a:solidFill>
        <a:effectLst/>
      </p:bgPr>
    </p:bg>
    <p:spTree>
      <p:nvGrpSpPr>
        <p:cNvPr id="1" name=""/>
        <p:cNvGrpSpPr/>
        <p:nvPr/>
      </p:nvGrpSpPr>
      <p:grpSpPr>
        <a:xfrm>
          <a:off x="0" y="0"/>
          <a:ext cx="0" cy="0"/>
          <a:chOff x="0" y="0"/>
          <a:chExt cx="0" cy="0"/>
        </a:xfrm>
      </p:grpSpPr>
      <p:sp>
        <p:nvSpPr>
          <p:cNvPr id="2" name="Text 0"/>
          <p:cNvSpPr/>
          <p:nvPr/>
        </p:nvSpPr>
        <p:spPr>
          <a:xfrm>
            <a:off x="548640" y="274320"/>
            <a:ext cx="7315200" cy="228600"/>
          </a:xfrm>
          <a:prstGeom prst="rect">
            <a:avLst/>
          </a:prstGeom>
          <a:noFill/>
          <a:ln/>
        </p:spPr>
        <p:txBody>
          <a:bodyPr wrap="square" lIns="0" tIns="0" rIns="0" bIns="0" rtlCol="0" anchor="ctr"/>
          <a:lstStyle/>
          <a:p>
            <a:pPr marL="0" indent="0">
              <a:buNone/>
            </a:pPr>
            <a:r>
              <a:rPr lang="en-US" sz="1100" b="1" kern="0" spc="400" dirty="0">
                <a:solidFill>
                  <a:srgbClr val="B8924A"/>
                </a:solidFill>
                <a:latin typeface="Calibri" pitchFamily="34" charset="0"/>
                <a:ea typeface="Calibri" pitchFamily="34" charset="-122"/>
                <a:cs typeface="Calibri" pitchFamily="34" charset="-120"/>
              </a:rPr>
              <a:t>SEE IT WORK  ·  LIVE</a:t>
            </a:r>
            <a:endParaRPr lang="en-US" sz="1100" dirty="0"/>
          </a:p>
        </p:txBody>
      </p:sp>
      <p:sp>
        <p:nvSpPr>
          <p:cNvPr id="3" name="Text 1"/>
          <p:cNvSpPr/>
          <p:nvPr/>
        </p:nvSpPr>
        <p:spPr>
          <a:xfrm>
            <a:off x="548640" y="502920"/>
            <a:ext cx="8046720" cy="457200"/>
          </a:xfrm>
          <a:prstGeom prst="rect">
            <a:avLst/>
          </a:prstGeom>
          <a:noFill/>
          <a:ln/>
        </p:spPr>
        <p:txBody>
          <a:bodyPr wrap="square" lIns="0" tIns="0" rIns="0" bIns="0" rtlCol="0" anchor="ctr"/>
          <a:lstStyle/>
          <a:p>
            <a:pPr marL="0" indent="0">
              <a:buNone/>
            </a:pPr>
            <a:r>
              <a:rPr lang="en-US" sz="2000" i="1" dirty="0">
                <a:solidFill>
                  <a:srgbClr val="1A1A1A"/>
                </a:solidFill>
                <a:latin typeface="Georgia" pitchFamily="34" charset="0"/>
                <a:ea typeface="Georgia" pitchFamily="34" charset="-122"/>
                <a:cs typeface="Georgia" pitchFamily="34" charset="-120"/>
              </a:rPr>
              <a:t>Real-time. Really real.</a:t>
            </a:r>
            <a:endParaRPr lang="en-US" sz="2000" dirty="0"/>
          </a:p>
        </p:txBody>
      </p:sp>
      <p:pic>
        <p:nvPicPr>
          <p:cNvPr id="4" name="Image 0" descr="scripts/site_shots/live_cropped.png"/>
          <p:cNvPicPr>
            <a:picLocks noChangeAspect="1"/>
          </p:cNvPicPr>
          <p:nvPr/>
        </p:nvPicPr>
        <p:blipFill>
          <a:blip r:embed="rId3"/>
          <a:stretch>
            <a:fillRect/>
          </a:stretch>
        </p:blipFill>
        <p:spPr>
          <a:xfrm>
            <a:off x="1575881" y="960120"/>
            <a:ext cx="5992238" cy="3520440"/>
          </a:xfrm>
          <a:prstGeom prst="rect">
            <a:avLst/>
          </a:prstGeom>
        </p:spPr>
      </p:pic>
      <p:sp>
        <p:nvSpPr>
          <p:cNvPr id="5" name="Text 2"/>
          <p:cNvSpPr/>
          <p:nvPr/>
        </p:nvSpPr>
        <p:spPr>
          <a:xfrm>
            <a:off x="548640" y="4526280"/>
            <a:ext cx="8046720" cy="228600"/>
          </a:xfrm>
          <a:prstGeom prst="rect">
            <a:avLst/>
          </a:prstGeom>
          <a:noFill/>
          <a:ln/>
        </p:spPr>
        <p:txBody>
          <a:bodyPr wrap="square" lIns="0" tIns="0" rIns="0" bIns="0" rtlCol="0" anchor="ctr"/>
          <a:lstStyle/>
          <a:p>
            <a:pPr marL="0" indent="0" algn="ctr">
              <a:buNone/>
            </a:pPr>
            <a:r>
              <a:rPr lang="en-US" sz="1000" i="1" dirty="0">
                <a:solidFill>
                  <a:srgbClr val="4B5563"/>
                </a:solidFill>
                <a:latin typeface="Calibri" pitchFamily="34" charset="0"/>
                <a:ea typeface="Calibri" pitchFamily="34" charset="-122"/>
                <a:cs typeface="Calibri" pitchFamily="34" charset="-120"/>
              </a:rPr>
              <a:t>Two streaming sources, scored every twenty seconds.</a:t>
            </a:r>
            <a:endParaRPr lang="en-US" sz="1000" dirty="0"/>
          </a:p>
        </p:txBody>
      </p:sp>
      <p:sp>
        <p:nvSpPr>
          <p:cNvPr id="6" name="Text 3"/>
          <p:cNvSpPr/>
          <p:nvPr/>
        </p:nvSpPr>
        <p:spPr>
          <a:xfrm>
            <a:off x="548640" y="4800600"/>
            <a:ext cx="3657600" cy="228600"/>
          </a:xfrm>
          <a:prstGeom prst="rect">
            <a:avLst/>
          </a:prstGeom>
          <a:noFill/>
          <a:ln/>
        </p:spPr>
        <p:txBody>
          <a:bodyPr wrap="square" lIns="0" tIns="0" rIns="0" bIns="0" rtlCol="0" anchor="ctr"/>
          <a:lstStyle/>
          <a:p>
            <a:pPr marL="0" indent="0">
              <a:buNone/>
            </a:pPr>
            <a:r>
              <a:rPr lang="en-US" sz="900" kern="0" spc="200" dirty="0">
                <a:solidFill>
                  <a:srgbClr val="4B5563"/>
                </a:solidFill>
                <a:latin typeface="Calibri" pitchFamily="34" charset="0"/>
                <a:ea typeface="Calibri" pitchFamily="34" charset="-122"/>
                <a:cs typeface="Calibri" pitchFamily="34" charset="-120"/>
              </a:rPr>
              <a:t>LATENT OCEAN</a:t>
            </a:r>
            <a:endParaRPr lang="en-US" sz="900" dirty="0"/>
          </a:p>
        </p:txBody>
      </p:sp>
      <p:sp>
        <p:nvSpPr>
          <p:cNvPr id="7" name="Text 4"/>
          <p:cNvSpPr/>
          <p:nvPr/>
        </p:nvSpPr>
        <p:spPr>
          <a:xfrm>
            <a:off x="7680960" y="4800600"/>
            <a:ext cx="914400" cy="228600"/>
          </a:xfrm>
          <a:prstGeom prst="rect">
            <a:avLst/>
          </a:prstGeom>
          <a:noFill/>
          <a:ln/>
        </p:spPr>
        <p:txBody>
          <a:bodyPr wrap="square" lIns="0" tIns="0" rIns="0" bIns="0" rtlCol="0" anchor="ctr"/>
          <a:lstStyle/>
          <a:p>
            <a:pPr marL="0" indent="0" algn="r">
              <a:buNone/>
            </a:pPr>
            <a:r>
              <a:rPr lang="en-US" sz="900" dirty="0">
                <a:solidFill>
                  <a:srgbClr val="4B5563"/>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274320"/>
          </a:xfrm>
          <a:prstGeom prst="rect">
            <a:avLst/>
          </a:prstGeom>
          <a:noFill/>
          <a:ln/>
        </p:spPr>
        <p:txBody>
          <a:bodyPr wrap="square" lIns="0" tIns="0" rIns="0" bIns="0" rtlCol="0" anchor="ctr"/>
          <a:lstStyle/>
          <a:p>
            <a:pPr marL="0" indent="0">
              <a:buNone/>
            </a:pPr>
            <a:r>
              <a:rPr lang="en-US" sz="1200" b="1" kern="0" spc="400" dirty="0">
                <a:solidFill>
                  <a:srgbClr val="B8924A"/>
                </a:solidFill>
                <a:latin typeface="Calibri" pitchFamily="34" charset="0"/>
                <a:ea typeface="Calibri" pitchFamily="34" charset="-122"/>
                <a:cs typeface="Calibri" pitchFamily="34" charset="-120"/>
              </a:rPr>
              <a:t>DEFENSIBILITY</a:t>
            </a:r>
            <a:endParaRPr lang="en-US" sz="1200" dirty="0"/>
          </a:p>
        </p:txBody>
      </p:sp>
      <p:sp>
        <p:nvSpPr>
          <p:cNvPr id="3" name="Text 1"/>
          <p:cNvSpPr/>
          <p:nvPr/>
        </p:nvSpPr>
        <p:spPr>
          <a:xfrm>
            <a:off x="548640" y="868680"/>
            <a:ext cx="5760720" cy="1371600"/>
          </a:xfrm>
          <a:prstGeom prst="rect">
            <a:avLst/>
          </a:prstGeom>
          <a:noFill/>
          <a:ln/>
        </p:spPr>
        <p:txBody>
          <a:bodyPr wrap="square" lIns="0" tIns="0" rIns="0" bIns="0" rtlCol="0" anchor="ctr"/>
          <a:lstStyle/>
          <a:p>
            <a:pPr marL="0" indent="0">
              <a:buNone/>
            </a:pPr>
            <a:r>
              <a:rPr lang="en-US" sz="3000" dirty="0">
                <a:solidFill>
                  <a:srgbClr val="FFFFFF"/>
                </a:solidFill>
                <a:latin typeface="Georgia" pitchFamily="34" charset="0"/>
                <a:ea typeface="Georgia" pitchFamily="34" charset="-122"/>
                <a:cs typeface="Georgia" pitchFamily="34" charset="-120"/>
              </a:rPr>
              <a:t>Trade secrets, with timestamps no one can fake.</a:t>
            </a:r>
            <a:endParaRPr lang="en-US" sz="3000" dirty="0"/>
          </a:p>
        </p:txBody>
      </p:sp>
      <p:sp>
        <p:nvSpPr>
          <p:cNvPr id="4" name="Shape 2"/>
          <p:cNvSpPr/>
          <p:nvPr/>
        </p:nvSpPr>
        <p:spPr>
          <a:xfrm>
            <a:off x="6812280" y="777240"/>
            <a:ext cx="1554480" cy="1554480"/>
          </a:xfrm>
          <a:prstGeom prst="ellipse">
            <a:avLst/>
          </a:prstGeom>
          <a:solidFill>
            <a:srgbClr val="1E3A5F"/>
          </a:solidFill>
          <a:ln w="25400">
            <a:solidFill>
              <a:srgbClr val="B8924A"/>
            </a:solidFill>
            <a:prstDash val="solid"/>
          </a:ln>
        </p:spPr>
        <p:txBody>
          <a:bodyPr/>
          <a:lstStyle/>
          <a:p>
            <a:endParaRPr lang="en-AE"/>
          </a:p>
        </p:txBody>
      </p:sp>
      <p:sp>
        <p:nvSpPr>
          <p:cNvPr id="5" name="Shape 3"/>
          <p:cNvSpPr/>
          <p:nvPr/>
        </p:nvSpPr>
        <p:spPr>
          <a:xfrm>
            <a:off x="7178040" y="1143000"/>
            <a:ext cx="822960" cy="822960"/>
          </a:xfrm>
          <a:prstGeom prst="ellipse">
            <a:avLst/>
          </a:prstGeom>
          <a:solidFill>
            <a:srgbClr val="B8924A"/>
          </a:solidFill>
          <a:ln/>
        </p:spPr>
        <p:txBody>
          <a:bodyPr/>
          <a:lstStyle/>
          <a:p>
            <a:endParaRPr lang="en-AE"/>
          </a:p>
        </p:txBody>
      </p:sp>
      <p:sp>
        <p:nvSpPr>
          <p:cNvPr id="6" name="Text 4"/>
          <p:cNvSpPr/>
          <p:nvPr/>
        </p:nvSpPr>
        <p:spPr>
          <a:xfrm>
            <a:off x="7178040" y="1097280"/>
            <a:ext cx="822960" cy="822960"/>
          </a:xfrm>
          <a:prstGeom prst="rect">
            <a:avLst/>
          </a:prstGeom>
          <a:noFill/>
          <a:ln/>
        </p:spPr>
        <p:txBody>
          <a:bodyPr wrap="square" lIns="0" tIns="0" rIns="0" bIns="0" rtlCol="0" anchor="ctr"/>
          <a:lstStyle/>
          <a:p>
            <a:pPr marL="0" indent="0" algn="ctr">
              <a:buNone/>
            </a:pPr>
            <a:r>
              <a:rPr lang="en-US" sz="3600" b="1" dirty="0">
                <a:solidFill>
                  <a:srgbClr val="1E3A5F"/>
                </a:solidFill>
                <a:latin typeface="Georgia" pitchFamily="34" charset="0"/>
                <a:ea typeface="Georgia" pitchFamily="34" charset="-122"/>
                <a:cs typeface="Georgia" pitchFamily="34" charset="-120"/>
              </a:rPr>
              <a:t>✓</a:t>
            </a:r>
            <a:endParaRPr lang="en-US" sz="3600" dirty="0"/>
          </a:p>
        </p:txBody>
      </p:sp>
      <p:sp>
        <p:nvSpPr>
          <p:cNvPr id="7" name="Text 5"/>
          <p:cNvSpPr/>
          <p:nvPr/>
        </p:nvSpPr>
        <p:spPr>
          <a:xfrm>
            <a:off x="548640" y="2423160"/>
            <a:ext cx="8046720" cy="2331720"/>
          </a:xfrm>
          <a:prstGeom prst="rect">
            <a:avLst/>
          </a:prstGeom>
          <a:noFill/>
          <a:ln/>
        </p:spPr>
        <p:txBody>
          <a:bodyPr wrap="square" lIns="0" tIns="0" rIns="0" bIns="0" rtlCol="0" anchor="ctr"/>
          <a:lstStyle/>
          <a:p>
            <a:pPr marL="342900" indent="-342900">
              <a:spcAft>
                <a:spcPts val="2200"/>
              </a:spcAft>
              <a:buSzPct val="100000"/>
              <a:buChar char="•"/>
            </a:pPr>
            <a:r>
              <a:rPr lang="en-US" sz="1700" dirty="0">
                <a:solidFill>
                  <a:srgbClr val="FFFFFF"/>
                </a:solidFill>
                <a:latin typeface="Calibri" pitchFamily="34" charset="0"/>
                <a:ea typeface="Calibri" pitchFamily="34" charset="-122"/>
                <a:cs typeface="Calibri" pitchFamily="34" charset="-120"/>
              </a:rPr>
              <a:t>The deep technical methods are intended to be protected as trade secrets.</a:t>
            </a:r>
            <a:endParaRPr lang="en-US" sz="1700" dirty="0"/>
          </a:p>
          <a:p>
            <a:pPr marL="342900" indent="-342900">
              <a:spcAft>
                <a:spcPts val="2200"/>
              </a:spcAft>
              <a:buSzPct val="100000"/>
              <a:buChar char="•"/>
            </a:pPr>
            <a:r>
              <a:rPr lang="en-US" sz="1700" dirty="0">
                <a:solidFill>
                  <a:srgbClr val="FFFFFF"/>
                </a:solidFill>
                <a:latin typeface="Calibri" pitchFamily="34" charset="0"/>
                <a:ea typeface="Calibri" pitchFamily="34" charset="-122"/>
                <a:cs typeface="Calibri" pitchFamily="34" charset="-120"/>
              </a:rPr>
              <a:t>Every invention is cryptographically time-stamped on a public blockchain.</a:t>
            </a:r>
            <a:endParaRPr lang="en-US" sz="1700" dirty="0"/>
          </a:p>
          <a:p>
            <a:pPr marL="342900" indent="-342900">
              <a:spcAft>
                <a:spcPts val="2200"/>
              </a:spcAft>
              <a:buSzPct val="100000"/>
              <a:buChar char="•"/>
            </a:pPr>
            <a:r>
              <a:rPr lang="en-US" sz="1700" dirty="0">
                <a:solidFill>
                  <a:srgbClr val="FFFFFF"/>
                </a:solidFill>
                <a:latin typeface="Calibri" pitchFamily="34" charset="0"/>
                <a:ea typeface="Calibri" pitchFamily="34" charset="-122"/>
                <a:cs typeface="Calibri" pitchFamily="34" charset="-120"/>
              </a:rPr>
              <a:t>Anyone can verify the creation timestamp without ever seeing the invention itself.</a:t>
            </a:r>
            <a:endParaRPr lang="en-US" sz="1700" dirty="0"/>
          </a:p>
        </p:txBody>
      </p:sp>
      <p:sp>
        <p:nvSpPr>
          <p:cNvPr id="8" name="Text 6"/>
          <p:cNvSpPr/>
          <p:nvPr/>
        </p:nvSpPr>
        <p:spPr>
          <a:xfrm>
            <a:off x="548640" y="4800600"/>
            <a:ext cx="3657600" cy="228600"/>
          </a:xfrm>
          <a:prstGeom prst="rect">
            <a:avLst/>
          </a:prstGeom>
          <a:noFill/>
          <a:ln/>
        </p:spPr>
        <p:txBody>
          <a:bodyPr wrap="square" lIns="0" tIns="0" rIns="0" bIns="0" rtlCol="0" anchor="ctr"/>
          <a:lstStyle/>
          <a:p>
            <a:pPr marL="0" indent="0">
              <a:buNone/>
            </a:pPr>
            <a:r>
              <a:rPr lang="en-US" sz="900" kern="0" spc="200" dirty="0">
                <a:solidFill>
                  <a:srgbClr val="D1D5DB"/>
                </a:solidFill>
                <a:latin typeface="Calibri" pitchFamily="34" charset="0"/>
                <a:ea typeface="Calibri" pitchFamily="34" charset="-122"/>
                <a:cs typeface="Calibri" pitchFamily="34" charset="-120"/>
              </a:rPr>
              <a:t>LATENT OCEAN</a:t>
            </a:r>
            <a:endParaRPr lang="en-US" sz="900" dirty="0"/>
          </a:p>
        </p:txBody>
      </p:sp>
      <p:sp>
        <p:nvSpPr>
          <p:cNvPr id="9" name="Text 7"/>
          <p:cNvSpPr/>
          <p:nvPr/>
        </p:nvSpPr>
        <p:spPr>
          <a:xfrm>
            <a:off x="7680960" y="4800600"/>
            <a:ext cx="914400" cy="228600"/>
          </a:xfrm>
          <a:prstGeom prst="rect">
            <a:avLst/>
          </a:prstGeom>
          <a:noFill/>
          <a:ln/>
        </p:spPr>
        <p:txBody>
          <a:bodyPr wrap="square" lIns="0" tIns="0" rIns="0" bIns="0" rtlCol="0" anchor="ctr"/>
          <a:lstStyle/>
          <a:p>
            <a:pPr marL="0" indent="0" algn="r">
              <a:buNone/>
            </a:pPr>
            <a:r>
              <a:rPr lang="en-US" sz="900" dirty="0">
                <a:solidFill>
                  <a:srgbClr val="D1D5DB"/>
                </a:solidFill>
                <a:latin typeface="Calibri" pitchFamily="34" charset="0"/>
                <a:ea typeface="Calibri" pitchFamily="34" charset="-122"/>
                <a:cs typeface="Calibri" pitchFamily="34" charset="-120"/>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886</Words>
  <Application>Microsoft Office PowerPoint</Application>
  <PresentationFormat>On-screen Show (16:9)</PresentationFormat>
  <Paragraphs>183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Latent Ocean System Slides</dc:title>
  <dc:subject>PptxGenJS Presentation</dc:subject>
  <dc:creator>Latent Ocean</dc:creator>
  <cp:lastModifiedBy>Diren Kumaratilleke</cp:lastModifiedBy>
  <cp:revision>1</cp:revision>
  <dcterms:created xsi:type="dcterms:W3CDTF">2026-04-26T07:31:28Z</dcterms:created>
  <dcterms:modified xsi:type="dcterms:W3CDTF">2026-04-26T07:49:48Z</dcterms:modified>
</cp:coreProperties>
</file>